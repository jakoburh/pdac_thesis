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67" r:id="rId5"/>
    <p:sldId id="262" r:id="rId6"/>
    <p:sldId id="265" r:id="rId7"/>
    <p:sldId id="263" r:id="rId8"/>
    <p:sldId id="264" r:id="rId9"/>
    <p:sldId id="266" r:id="rId10"/>
    <p:sldId id="268" r:id="rId11"/>
    <p:sldId id="269" r:id="rId12"/>
    <p:sldId id="270" r:id="rId13"/>
    <p:sldId id="271" r:id="rId14"/>
    <p:sldId id="272" r:id="rId15"/>
    <p:sldId id="273" r:id="rId16"/>
    <p:sldId id="259" r:id="rId17"/>
    <p:sldId id="260" r:id="rId18"/>
    <p:sldId id="261" r:id="rId19"/>
  </p:sldIdLst>
  <p:sldSz cx="12192000" cy="6858000"/>
  <p:notesSz cx="6858000" cy="9144000"/>
  <p:defaultTextStyle>
    <a:defPPr>
      <a:defRPr lang="sl-S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91" d="100"/>
          <a:sy n="91" d="100"/>
        </p:scale>
        <p:origin x="79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Nitro%2017\Desktop\diplomska%20naloga\Jakobb\rezultati\kandidati_milejsi_log2TPM_ali_flux.csv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Nitro%2017\Desktop\diplomska%20naloga\Jakobb\rezultati\kandidati_milejsi_log2TPM_ali_flux.csv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kandidati_milejsi_log2TPM_ali_f!$O$76:$O$143</c:f>
              <c:strCache>
                <c:ptCount val="68"/>
                <c:pt idx="0">
                  <c:v>Acylglycerides metabolism</c:v>
                </c:pt>
                <c:pt idx="1">
                  <c:v>Alanine, aspartate and glutamate metabolism</c:v>
                </c:pt>
                <c:pt idx="2">
                  <c:v>Amino sugar and nucleotide sugar metabolism</c:v>
                </c:pt>
                <c:pt idx="3">
                  <c:v>Androgen metabolism</c:v>
                </c:pt>
                <c:pt idx="4">
                  <c:v>Arachidonic acid metabolism</c:v>
                </c:pt>
                <c:pt idx="5">
                  <c:v>Arginine and proline metabolism</c:v>
                </c:pt>
                <c:pt idx="6">
                  <c:v>Ascorbate and aldarate metabolism</c:v>
                </c:pt>
                <c:pt idx="7">
                  <c:v>Beta-alanine metabolism</c:v>
                </c:pt>
                <c:pt idx="8">
                  <c:v>Bile acid biosynthesis</c:v>
                </c:pt>
                <c:pt idx="9">
                  <c:v>Biopterin metabolism</c:v>
                </c:pt>
                <c:pt idx="10">
                  <c:v>Blood group biosynthesis</c:v>
                </c:pt>
                <c:pt idx="11">
                  <c:v>Chondroitin / heparan sulfate biosynthesis</c:v>
                </c:pt>
                <c:pt idx="12">
                  <c:v>Chondroitin sulfate degradation</c:v>
                </c:pt>
                <c:pt idx="13">
                  <c:v>Cysteine and methionine metabolism</c:v>
                </c:pt>
                <c:pt idx="14">
                  <c:v>Eicosanoid metabolism</c:v>
                </c:pt>
                <c:pt idx="15">
                  <c:v>Ether lipid metabolism</c:v>
                </c:pt>
                <c:pt idx="16">
                  <c:v>Fatty acid activation (cytosolic)</c:v>
                </c:pt>
                <c:pt idx="17">
                  <c:v>Fatty acid activation (endoplasmic reticular)</c:v>
                </c:pt>
                <c:pt idx="18">
                  <c:v>Fatty acid biosynthesis</c:v>
                </c:pt>
                <c:pt idx="19">
                  <c:v>Fatty acid biosynthesis (even-chain)</c:v>
                </c:pt>
                <c:pt idx="20">
                  <c:v>Fatty acid metabolism</c:v>
                </c:pt>
                <c:pt idx="21">
                  <c:v>Fatty acid oxidation</c:v>
                </c:pt>
                <c:pt idx="22">
                  <c:v>Fructose and mannose metabolism</c:v>
                </c:pt>
                <c:pt idx="23">
                  <c:v>Galactose metabolism</c:v>
                </c:pt>
                <c:pt idx="24">
                  <c:v>Glutathione metabolism</c:v>
                </c:pt>
                <c:pt idx="25">
                  <c:v>Glycerolipid metabolism</c:v>
                </c:pt>
                <c:pt idx="26">
                  <c:v>Glycerophospholipid metabolism</c:v>
                </c:pt>
                <c:pt idx="27">
                  <c:v>Glycine, serine and threonine metabolism</c:v>
                </c:pt>
                <c:pt idx="28">
                  <c:v>Glycolysis / Gluconeogenesis</c:v>
                </c:pt>
                <c:pt idx="29">
                  <c:v>Glycosphingolipid biosynthesis-lacto and neolacto series</c:v>
                </c:pt>
                <c:pt idx="30">
                  <c:v>Glycosphingolipid metabolism</c:v>
                </c:pt>
                <c:pt idx="31">
                  <c:v>Histidine metabolism</c:v>
                </c:pt>
                <c:pt idx="32">
                  <c:v>Inositol phosphate metabolism</c:v>
                </c:pt>
                <c:pt idx="33">
                  <c:v>Isolated</c:v>
                </c:pt>
                <c:pt idx="34">
                  <c:v>Keratan sulfate biosynthesis</c:v>
                </c:pt>
                <c:pt idx="35">
                  <c:v>Leukotriene metabolism</c:v>
                </c:pt>
                <c:pt idx="36">
                  <c:v>Linoleate metabolism</c:v>
                </c:pt>
                <c:pt idx="37">
                  <c:v>Miscellaneous</c:v>
                </c:pt>
                <c:pt idx="38">
                  <c:v>Nicotinate and nicotinamide metabolism</c:v>
                </c:pt>
                <c:pt idx="39">
                  <c:v>Nucleotide metabolism</c:v>
                </c:pt>
                <c:pt idx="40">
                  <c:v>octane oxidation</c:v>
                </c:pt>
                <c:pt idx="41">
                  <c:v>O-glycan metabolism</c:v>
                </c:pt>
                <c:pt idx="42">
                  <c:v>Omega-3 fatty acid metabolism</c:v>
                </c:pt>
                <c:pt idx="43">
                  <c:v>Oxidative phosphorylation</c:v>
                </c:pt>
                <c:pt idx="44">
                  <c:v>Pentose phosphate pathway</c:v>
                </c:pt>
                <c:pt idx="45">
                  <c:v>Phenylalanine, tyrosine and tryptophan biosynthesis</c:v>
                </c:pt>
                <c:pt idx="46">
                  <c:v>Pool reactions</c:v>
                </c:pt>
                <c:pt idx="47">
                  <c:v>Porphyrin metabolism</c:v>
                </c:pt>
                <c:pt idx="48">
                  <c:v>Propanoate metabolism</c:v>
                </c:pt>
                <c:pt idx="49">
                  <c:v>Prostaglandin biosynthesis</c:v>
                </c:pt>
                <c:pt idx="50">
                  <c:v>Protein degradation</c:v>
                </c:pt>
                <c:pt idx="51">
                  <c:v>Protein modification</c:v>
                </c:pt>
                <c:pt idx="52">
                  <c:v>Purine metabolism</c:v>
                </c:pt>
                <c:pt idx="53">
                  <c:v>Pyrimidine metabolism</c:v>
                </c:pt>
                <c:pt idx="54">
                  <c:v>Pyruvate metabolism</c:v>
                </c:pt>
                <c:pt idx="55">
                  <c:v>Retinol metabolism</c:v>
                </c:pt>
                <c:pt idx="56">
                  <c:v>Sphingolipid metabolism</c:v>
                </c:pt>
                <c:pt idx="57">
                  <c:v>Starch and sucrose metabolism</c:v>
                </c:pt>
                <c:pt idx="58">
                  <c:v>Steroid metabolism</c:v>
                </c:pt>
                <c:pt idx="59">
                  <c:v>Sulfur metabolism</c:v>
                </c:pt>
                <c:pt idx="60">
                  <c:v>Terpenoid backbone biosynthesis</c:v>
                </c:pt>
                <c:pt idx="61">
                  <c:v>Transport reactions</c:v>
                </c:pt>
                <c:pt idx="62">
                  <c:v>Tricarboxylic acid cycle and glyoxylate/dicarboxylate metabolism</c:v>
                </c:pt>
                <c:pt idx="63">
                  <c:v>Tyrosine metabolism</c:v>
                </c:pt>
                <c:pt idx="64">
                  <c:v>Valine, leucine, and isoleucine metabolism</c:v>
                </c:pt>
                <c:pt idx="65">
                  <c:v>Vitamin A metabolism</c:v>
                </c:pt>
                <c:pt idx="66">
                  <c:v>Vitamin D metabolism</c:v>
                </c:pt>
                <c:pt idx="67">
                  <c:v>Xenobiotics metabolism</c:v>
                </c:pt>
              </c:strCache>
            </c:strRef>
          </c:cat>
          <c:val>
            <c:numRef>
              <c:f>kandidati_milejsi_log2TPM_ali_f!$P$76:$P$143</c:f>
              <c:numCache>
                <c:formatCode>General</c:formatCode>
                <c:ptCount val="68"/>
                <c:pt idx="0">
                  <c:v>9</c:v>
                </c:pt>
                <c:pt idx="1">
                  <c:v>2</c:v>
                </c:pt>
                <c:pt idx="2">
                  <c:v>1</c:v>
                </c:pt>
                <c:pt idx="3">
                  <c:v>4</c:v>
                </c:pt>
                <c:pt idx="4">
                  <c:v>30</c:v>
                </c:pt>
                <c:pt idx="5">
                  <c:v>6</c:v>
                </c:pt>
                <c:pt idx="6">
                  <c:v>1</c:v>
                </c:pt>
                <c:pt idx="7">
                  <c:v>2</c:v>
                </c:pt>
                <c:pt idx="8">
                  <c:v>3</c:v>
                </c:pt>
                <c:pt idx="9">
                  <c:v>2</c:v>
                </c:pt>
                <c:pt idx="10">
                  <c:v>8</c:v>
                </c:pt>
                <c:pt idx="11">
                  <c:v>3</c:v>
                </c:pt>
                <c:pt idx="12">
                  <c:v>5</c:v>
                </c:pt>
                <c:pt idx="13">
                  <c:v>1</c:v>
                </c:pt>
                <c:pt idx="14">
                  <c:v>6</c:v>
                </c:pt>
                <c:pt idx="15">
                  <c:v>5</c:v>
                </c:pt>
                <c:pt idx="16">
                  <c:v>59</c:v>
                </c:pt>
                <c:pt idx="17">
                  <c:v>55</c:v>
                </c:pt>
                <c:pt idx="18">
                  <c:v>1</c:v>
                </c:pt>
                <c:pt idx="19">
                  <c:v>1</c:v>
                </c:pt>
                <c:pt idx="20">
                  <c:v>1</c:v>
                </c:pt>
                <c:pt idx="21">
                  <c:v>7</c:v>
                </c:pt>
                <c:pt idx="22">
                  <c:v>3</c:v>
                </c:pt>
                <c:pt idx="23">
                  <c:v>1</c:v>
                </c:pt>
                <c:pt idx="24">
                  <c:v>6</c:v>
                </c:pt>
                <c:pt idx="25">
                  <c:v>6</c:v>
                </c:pt>
                <c:pt idx="26">
                  <c:v>19</c:v>
                </c:pt>
                <c:pt idx="27">
                  <c:v>3</c:v>
                </c:pt>
                <c:pt idx="28">
                  <c:v>8</c:v>
                </c:pt>
                <c:pt idx="29">
                  <c:v>3</c:v>
                </c:pt>
                <c:pt idx="30">
                  <c:v>6</c:v>
                </c:pt>
                <c:pt idx="31">
                  <c:v>1</c:v>
                </c:pt>
                <c:pt idx="32">
                  <c:v>11</c:v>
                </c:pt>
                <c:pt idx="33">
                  <c:v>10</c:v>
                </c:pt>
                <c:pt idx="34">
                  <c:v>18</c:v>
                </c:pt>
                <c:pt idx="35">
                  <c:v>23</c:v>
                </c:pt>
                <c:pt idx="36">
                  <c:v>5</c:v>
                </c:pt>
                <c:pt idx="37">
                  <c:v>9</c:v>
                </c:pt>
                <c:pt idx="38">
                  <c:v>6</c:v>
                </c:pt>
                <c:pt idx="39">
                  <c:v>8</c:v>
                </c:pt>
                <c:pt idx="40">
                  <c:v>1</c:v>
                </c:pt>
                <c:pt idx="41">
                  <c:v>2</c:v>
                </c:pt>
                <c:pt idx="42">
                  <c:v>8</c:v>
                </c:pt>
                <c:pt idx="43">
                  <c:v>2</c:v>
                </c:pt>
                <c:pt idx="44">
                  <c:v>1</c:v>
                </c:pt>
                <c:pt idx="45">
                  <c:v>19</c:v>
                </c:pt>
                <c:pt idx="46">
                  <c:v>1</c:v>
                </c:pt>
                <c:pt idx="47">
                  <c:v>1</c:v>
                </c:pt>
                <c:pt idx="48">
                  <c:v>9</c:v>
                </c:pt>
                <c:pt idx="49">
                  <c:v>8</c:v>
                </c:pt>
                <c:pt idx="50">
                  <c:v>30</c:v>
                </c:pt>
                <c:pt idx="51">
                  <c:v>2</c:v>
                </c:pt>
                <c:pt idx="52">
                  <c:v>33</c:v>
                </c:pt>
                <c:pt idx="53">
                  <c:v>12</c:v>
                </c:pt>
                <c:pt idx="54">
                  <c:v>3</c:v>
                </c:pt>
                <c:pt idx="55">
                  <c:v>17</c:v>
                </c:pt>
                <c:pt idx="56">
                  <c:v>11</c:v>
                </c:pt>
                <c:pt idx="57">
                  <c:v>3</c:v>
                </c:pt>
                <c:pt idx="58">
                  <c:v>1</c:v>
                </c:pt>
                <c:pt idx="59">
                  <c:v>1</c:v>
                </c:pt>
                <c:pt idx="60">
                  <c:v>1</c:v>
                </c:pt>
                <c:pt idx="61">
                  <c:v>208</c:v>
                </c:pt>
                <c:pt idx="62">
                  <c:v>2</c:v>
                </c:pt>
                <c:pt idx="63">
                  <c:v>8</c:v>
                </c:pt>
                <c:pt idx="64">
                  <c:v>5</c:v>
                </c:pt>
                <c:pt idx="65">
                  <c:v>1</c:v>
                </c:pt>
                <c:pt idx="66">
                  <c:v>7</c:v>
                </c:pt>
                <c:pt idx="67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6AA-4ED9-9C05-BC9F0D4DCC9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23411311"/>
        <c:axId val="423410831"/>
      </c:barChart>
      <c:catAx>
        <c:axId val="423411311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sl-SI"/>
                  <a:t>Subsystem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sl-SI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sl-SI"/>
          </a:p>
        </c:txPr>
        <c:crossAx val="423410831"/>
        <c:crosses val="autoZero"/>
        <c:auto val="1"/>
        <c:lblAlgn val="ctr"/>
        <c:lblOffset val="100"/>
        <c:noMultiLvlLbl val="0"/>
      </c:catAx>
      <c:valAx>
        <c:axId val="42341083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sl-SI"/>
                  <a:t>Number of candidates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sl-SI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sl-SI"/>
          </a:p>
        </c:txPr>
        <c:crossAx val="42341131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sl-SI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kandidati_milejsi_log2TPM_ali_f!$O$54:$O$98</c:f>
              <c:strCache>
                <c:ptCount val="45"/>
                <c:pt idx="0">
                  <c:v>Acylglycerides metabolism</c:v>
                </c:pt>
                <c:pt idx="1">
                  <c:v>Amino sugar and nucleotide sugar metabolism</c:v>
                </c:pt>
                <c:pt idx="2">
                  <c:v>Androgen metabolism</c:v>
                </c:pt>
                <c:pt idx="3">
                  <c:v>Arachidonic acid metabolism</c:v>
                </c:pt>
                <c:pt idx="4">
                  <c:v>Arginine and proline metabolism</c:v>
                </c:pt>
                <c:pt idx="5">
                  <c:v>Bile acid biosynthesis</c:v>
                </c:pt>
                <c:pt idx="6">
                  <c:v>Chondroitin / heparan sulfate biosynthesis</c:v>
                </c:pt>
                <c:pt idx="7">
                  <c:v>Ether lipid metabolism</c:v>
                </c:pt>
                <c:pt idx="8">
                  <c:v>Fatty acid biosynthesis</c:v>
                </c:pt>
                <c:pt idx="9">
                  <c:v>Fatty acid metabolism</c:v>
                </c:pt>
                <c:pt idx="10">
                  <c:v>Fructose and mannose metabolism</c:v>
                </c:pt>
                <c:pt idx="11">
                  <c:v>Galactose metabolism</c:v>
                </c:pt>
                <c:pt idx="12">
                  <c:v>Glycerolipid metabolism</c:v>
                </c:pt>
                <c:pt idx="13">
                  <c:v>Glycerophospholipid metabolism</c:v>
                </c:pt>
                <c:pt idx="14">
                  <c:v>Glycolysis / Gluconeogenesis</c:v>
                </c:pt>
                <c:pt idx="15">
                  <c:v>Histidine metabolism</c:v>
                </c:pt>
                <c:pt idx="16">
                  <c:v>Inositol phosphate metabolism</c:v>
                </c:pt>
                <c:pt idx="17">
                  <c:v>Isolated</c:v>
                </c:pt>
                <c:pt idx="18">
                  <c:v>Leukotriene metabolism</c:v>
                </c:pt>
                <c:pt idx="19">
                  <c:v>Linoleate metabolism</c:v>
                </c:pt>
                <c:pt idx="20">
                  <c:v>Miscellaneous</c:v>
                </c:pt>
                <c:pt idx="21">
                  <c:v>octane oxidation</c:v>
                </c:pt>
                <c:pt idx="22">
                  <c:v>O-glycan metabolism</c:v>
                </c:pt>
                <c:pt idx="23">
                  <c:v>Omega-3 fatty acid metabolism</c:v>
                </c:pt>
                <c:pt idx="24">
                  <c:v>Oxidative phosphorylation</c:v>
                </c:pt>
                <c:pt idx="25">
                  <c:v>Pentose phosphate pathway</c:v>
                </c:pt>
                <c:pt idx="26">
                  <c:v>Phenylalanine, tyrosine and tryptophan biosynthesis</c:v>
                </c:pt>
                <c:pt idx="27">
                  <c:v>Propanoate metabolism</c:v>
                </c:pt>
                <c:pt idx="28">
                  <c:v>Prostaglandin biosynthesis</c:v>
                </c:pt>
                <c:pt idx="29">
                  <c:v>Protein modification</c:v>
                </c:pt>
                <c:pt idx="30">
                  <c:v>Purine metabolism</c:v>
                </c:pt>
                <c:pt idx="31">
                  <c:v>Pyrimidine metabolism</c:v>
                </c:pt>
                <c:pt idx="32">
                  <c:v>Pyruvate metabolism</c:v>
                </c:pt>
                <c:pt idx="33">
                  <c:v>Retinol metabolism</c:v>
                </c:pt>
                <c:pt idx="34">
                  <c:v>Sphingolipid metabolism</c:v>
                </c:pt>
                <c:pt idx="35">
                  <c:v>Starch and sucrose metabolism</c:v>
                </c:pt>
                <c:pt idx="36">
                  <c:v>Steroid metabolism</c:v>
                </c:pt>
                <c:pt idx="37">
                  <c:v>Sulfur metabolism</c:v>
                </c:pt>
                <c:pt idx="38">
                  <c:v>Terpenoid backbone biosynthesis</c:v>
                </c:pt>
                <c:pt idx="39">
                  <c:v>Transport reactions</c:v>
                </c:pt>
                <c:pt idx="40">
                  <c:v>Tricarboxylic acid cycle and glyoxylate/dicarboxylate metabolism</c:v>
                </c:pt>
                <c:pt idx="41">
                  <c:v>Tyrosine metabolism</c:v>
                </c:pt>
                <c:pt idx="42">
                  <c:v>Valine, leucine, and isoleucine metabolism</c:v>
                </c:pt>
                <c:pt idx="43">
                  <c:v>Vitamin A metabolism</c:v>
                </c:pt>
                <c:pt idx="44">
                  <c:v>Xenobiotics metabolism</c:v>
                </c:pt>
              </c:strCache>
            </c:strRef>
          </c:cat>
          <c:val>
            <c:numRef>
              <c:f>kandidati_milejsi_log2TPM_ali_f!$P$54:$P$98</c:f>
              <c:numCache>
                <c:formatCode>General</c:formatCode>
                <c:ptCount val="45"/>
                <c:pt idx="0">
                  <c:v>1</c:v>
                </c:pt>
                <c:pt idx="1">
                  <c:v>1</c:v>
                </c:pt>
                <c:pt idx="2">
                  <c:v>3</c:v>
                </c:pt>
                <c:pt idx="3">
                  <c:v>22</c:v>
                </c:pt>
                <c:pt idx="4">
                  <c:v>2</c:v>
                </c:pt>
                <c:pt idx="5">
                  <c:v>1</c:v>
                </c:pt>
                <c:pt idx="6">
                  <c:v>2</c:v>
                </c:pt>
                <c:pt idx="7">
                  <c:v>3</c:v>
                </c:pt>
                <c:pt idx="8">
                  <c:v>1</c:v>
                </c:pt>
                <c:pt idx="9">
                  <c:v>1</c:v>
                </c:pt>
                <c:pt idx="10">
                  <c:v>3</c:v>
                </c:pt>
                <c:pt idx="11">
                  <c:v>1</c:v>
                </c:pt>
                <c:pt idx="12">
                  <c:v>3</c:v>
                </c:pt>
                <c:pt idx="13">
                  <c:v>15</c:v>
                </c:pt>
                <c:pt idx="14">
                  <c:v>5</c:v>
                </c:pt>
                <c:pt idx="15">
                  <c:v>1</c:v>
                </c:pt>
                <c:pt idx="16">
                  <c:v>7</c:v>
                </c:pt>
                <c:pt idx="17">
                  <c:v>6</c:v>
                </c:pt>
                <c:pt idx="18">
                  <c:v>3</c:v>
                </c:pt>
                <c:pt idx="19">
                  <c:v>4</c:v>
                </c:pt>
                <c:pt idx="20">
                  <c:v>6</c:v>
                </c:pt>
                <c:pt idx="21">
                  <c:v>1</c:v>
                </c:pt>
                <c:pt idx="22">
                  <c:v>2</c:v>
                </c:pt>
                <c:pt idx="23">
                  <c:v>6</c:v>
                </c:pt>
                <c:pt idx="24">
                  <c:v>1</c:v>
                </c:pt>
                <c:pt idx="25">
                  <c:v>1</c:v>
                </c:pt>
                <c:pt idx="26">
                  <c:v>15</c:v>
                </c:pt>
                <c:pt idx="27">
                  <c:v>1</c:v>
                </c:pt>
                <c:pt idx="28">
                  <c:v>1</c:v>
                </c:pt>
                <c:pt idx="29">
                  <c:v>1</c:v>
                </c:pt>
                <c:pt idx="30">
                  <c:v>11</c:v>
                </c:pt>
                <c:pt idx="31">
                  <c:v>2</c:v>
                </c:pt>
                <c:pt idx="32">
                  <c:v>3</c:v>
                </c:pt>
                <c:pt idx="33">
                  <c:v>5</c:v>
                </c:pt>
                <c:pt idx="34">
                  <c:v>1</c:v>
                </c:pt>
                <c:pt idx="35">
                  <c:v>3</c:v>
                </c:pt>
                <c:pt idx="36">
                  <c:v>1</c:v>
                </c:pt>
                <c:pt idx="37">
                  <c:v>1</c:v>
                </c:pt>
                <c:pt idx="38">
                  <c:v>1</c:v>
                </c:pt>
                <c:pt idx="39">
                  <c:v>101</c:v>
                </c:pt>
                <c:pt idx="40">
                  <c:v>2</c:v>
                </c:pt>
                <c:pt idx="41">
                  <c:v>6</c:v>
                </c:pt>
                <c:pt idx="42">
                  <c:v>1</c:v>
                </c:pt>
                <c:pt idx="43">
                  <c:v>1</c:v>
                </c:pt>
                <c:pt idx="44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547-44D5-8F4B-EAE8B451ACC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190198320"/>
        <c:axId val="1190196880"/>
      </c:barChart>
      <c:catAx>
        <c:axId val="1190198320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sl-SI"/>
                  <a:t>Subsystem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sl-SI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sl-SI"/>
          </a:p>
        </c:txPr>
        <c:crossAx val="1190196880"/>
        <c:crosses val="autoZero"/>
        <c:auto val="1"/>
        <c:lblAlgn val="ctr"/>
        <c:lblOffset val="100"/>
        <c:noMultiLvlLbl val="0"/>
      </c:catAx>
      <c:valAx>
        <c:axId val="11901968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sl-SI"/>
                  <a:t>Number of candidates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sl-SI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sl-SI"/>
          </a:p>
        </c:txPr>
        <c:crossAx val="11901983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sl-SI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l-SI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5958BB-7237-4D5F-926D-0209C9D47276}" type="datetimeFigureOut">
              <a:rPr lang="sl-SI" smtClean="0"/>
              <a:t>12. 07. 2026</a:t>
            </a:fld>
            <a:endParaRPr lang="sl-SI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l-SI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l-S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l-S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8135C9-7F30-4E8D-BF38-59B6ACF98D7E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4647557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l-S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8135C9-7F30-4E8D-BF38-59B6ACF98D7E}" type="slidenum">
              <a:rPr lang="sl-SI" smtClean="0"/>
              <a:t>15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4414849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97BD9-1C9F-BE74-1244-6ECE7F25F8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sl-SI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8CBE52-8585-C673-F7CB-075A9A1526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sl-S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248485-D056-AA9B-A9FF-EA581594A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659B9-CCC6-4D3A-81C2-56D6790BB503}" type="datetimeFigureOut">
              <a:rPr lang="sl-SI" smtClean="0"/>
              <a:t>12. 07. 2026</a:t>
            </a:fld>
            <a:endParaRPr lang="sl-S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BB80FE-1E0F-5930-9542-E34E52D4A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9175A0-8E5A-E40D-7B8C-037F82DFB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CF976-9A64-42EF-960D-651383B8A8CA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32403248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4F560-948A-8400-505F-36F99CFEA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l-S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0E90B8-A6CE-FFE4-DB13-2C52C4550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l-S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B22F1C-F0D0-96A7-E3CD-D04FD5861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659B9-CCC6-4D3A-81C2-56D6790BB503}" type="datetimeFigureOut">
              <a:rPr lang="sl-SI" smtClean="0"/>
              <a:t>12. 07. 2026</a:t>
            </a:fld>
            <a:endParaRPr lang="sl-S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7190CE-3A01-63CF-2F43-D54BFDD15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4DCB91-F3A0-5FCC-1664-645482AAA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CF976-9A64-42EF-960D-651383B8A8CA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3221551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7F53C4-A297-89E0-F438-BC889529C6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sl-S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CB8854-2D33-06DE-3C79-088E864B3E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98430B-0DD1-903A-D751-474C2B1AF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659B9-CCC6-4D3A-81C2-56D6790BB503}" type="datetimeFigureOut">
              <a:rPr lang="sl-SI" smtClean="0"/>
              <a:t>12. 07. 2026</a:t>
            </a:fld>
            <a:endParaRPr lang="sl-S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B0D729-F287-44A5-1D86-6125B221B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5023CD-A172-4806-37A3-07F3C8E72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CF976-9A64-42EF-960D-651383B8A8CA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8356253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2A5D8-DC66-F6C9-3B3B-F999F70A1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l-S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02814E-3ED1-E653-97AB-8B8909E750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l-SI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D40CA5-21D4-BD55-1F07-37478B544B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l-SI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F45258-E383-0158-D95B-B16569E345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659B9-CCC6-4D3A-81C2-56D6790BB503}" type="datetimeFigureOut">
              <a:rPr lang="sl-SI" smtClean="0"/>
              <a:t>12. 07. 2026</a:t>
            </a:fld>
            <a:endParaRPr lang="sl-S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DF9999-D629-D635-1F4F-EBD84888B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F0D7D4-54A5-A6A5-7858-66AA58AAE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CF976-9A64-42EF-960D-651383B8A8CA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8660931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AF9DE-B108-562F-8AA0-273244EA1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sl-S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05D674-0E58-46D4-434E-DBF0F53143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211029-EDA3-68E4-DF6D-C3D00B46FC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l-SI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62A812-483E-4EAB-2D72-60203E3FB3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325A71-EA8C-B6DC-CEDA-1CBB87029F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l-SI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FC681FE-2534-BC92-491D-D8728670E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659B9-CCC6-4D3A-81C2-56D6790BB503}" type="datetimeFigureOut">
              <a:rPr lang="sl-SI" smtClean="0"/>
              <a:t>12. 07. 2026</a:t>
            </a:fld>
            <a:endParaRPr lang="sl-SI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FA573E1-63DC-3E68-24C9-AABC10268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30754D-F2A7-9689-A15A-80CE57E0C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CF976-9A64-42EF-960D-651383B8A8CA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9033201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EAB52-029B-859C-5C62-4FA7BB5E8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l-SI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9D2C5F-FD09-1616-B219-91D9F6AEB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659B9-CCC6-4D3A-81C2-56D6790BB503}" type="datetimeFigureOut">
              <a:rPr lang="sl-SI" smtClean="0"/>
              <a:t>12. 07. 2026</a:t>
            </a:fld>
            <a:endParaRPr lang="sl-SI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FD19B7-A414-C0C1-7FE7-78A95AA34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AA8950-1010-A87C-5A72-D0F14B29D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CF976-9A64-42EF-960D-651383B8A8CA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68361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53BE98-D2FD-CACF-6C26-F8407F069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659B9-CCC6-4D3A-81C2-56D6790BB503}" type="datetimeFigureOut">
              <a:rPr lang="sl-SI" smtClean="0"/>
              <a:t>12. 07. 2026</a:t>
            </a:fld>
            <a:endParaRPr lang="sl-SI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BDF062-26D0-796D-09C3-F80A63C3D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BACCEE-1233-07D1-7735-A0ACC04CC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CF976-9A64-42EF-960D-651383B8A8CA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8579148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B1149-7D7F-3DAC-7511-66170B5A91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l-S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B6F783-F1B2-F646-BFD8-7205B56EA4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l-SI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29EEB9-BA23-F650-0819-AB599E9CA7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32D95F-5D7F-8E4D-151E-5E9B832788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659B9-CCC6-4D3A-81C2-56D6790BB503}" type="datetimeFigureOut">
              <a:rPr lang="sl-SI" smtClean="0"/>
              <a:t>12. 07. 2026</a:t>
            </a:fld>
            <a:endParaRPr lang="sl-S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4EB16A-F3ED-75B1-3CE6-B7CA86EB0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0AF1B7-0408-BC39-683C-3344578A8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CF976-9A64-42EF-960D-651383B8A8CA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276204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A2394-4BFB-85C0-58FD-02E857CE25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l-SI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F72C61-AFA2-1B98-EE50-4ABD2E3696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l-SI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4093FB-7D11-DE99-C60E-E978DBBEFC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A53427-D2EE-697F-77B3-B5F539DB1E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659B9-CCC6-4D3A-81C2-56D6790BB503}" type="datetimeFigureOut">
              <a:rPr lang="sl-SI" smtClean="0"/>
              <a:t>12. 07. 2026</a:t>
            </a:fld>
            <a:endParaRPr lang="sl-S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893679-26FA-2295-B8FF-29A172408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99BAC3-6798-3471-79BD-D202BEB3B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CF976-9A64-42EF-960D-651383B8A8CA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8009065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3C5C6-A564-3F75-7478-3676C2B77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l-SI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73AE1F-E3EE-DB47-8868-83B47165DE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l-S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831C11-25E7-FD35-EFF3-621778A2F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659B9-CCC6-4D3A-81C2-56D6790BB503}" type="datetimeFigureOut">
              <a:rPr lang="sl-SI" smtClean="0"/>
              <a:t>12. 07. 2026</a:t>
            </a:fld>
            <a:endParaRPr lang="sl-S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A275A5-A7AD-9D69-1653-18EDA08DC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38E38F-F4E3-9140-56E0-CE883CC76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CF976-9A64-42EF-960D-651383B8A8CA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8140291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9D8E2B2-F29D-7B6C-BB82-76C862B1D7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sl-SI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1FE091-7741-2CFF-0200-2EEABF3584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l-S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2C4C8E-5CE4-7AF5-FA8D-C99ED3CF8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659B9-CCC6-4D3A-81C2-56D6790BB503}" type="datetimeFigureOut">
              <a:rPr lang="sl-SI" smtClean="0"/>
              <a:t>12. 07. 2026</a:t>
            </a:fld>
            <a:endParaRPr lang="sl-S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52BE9B-BFA5-B745-EFFF-2A0A3052C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AA7A1D-EC92-6A8A-6225-4A7AC1DD3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CF976-9A64-42EF-960D-651383B8A8CA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40575389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1E0A6F-9676-6D1E-02FC-6787BDDFB7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sl-S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417917-A3AE-1870-1185-290220B8EC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l-S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37599F-F023-2269-420E-5682255037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2659B9-CCC6-4D3A-81C2-56D6790BB503}" type="datetimeFigureOut">
              <a:rPr lang="sl-SI" smtClean="0"/>
              <a:t>12. 07. 2026</a:t>
            </a:fld>
            <a:endParaRPr lang="sl-S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06D751-0BF4-98F7-7826-423F9E6DFA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l-S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125F56-8099-2565-8F16-7F776687A6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8CF976-9A64-42EF-960D-651383B8A8CA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7807381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l-S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731E8-CC18-6D2B-ABE9-2AC35A73CDC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l-SI" dirty="0"/>
              <a:t>Final results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BBFF0F-EF59-F03C-DCFC-4F98DC208CB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35904025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5473EE3-B3A2-B1EB-F2AE-761E548731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526700"/>
            <a:ext cx="12192000" cy="3871939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E06BE0F-9ECD-141E-88BC-728E75BD0D43}"/>
              </a:ext>
            </a:extLst>
          </p:cNvPr>
          <p:cNvCxnSpPr/>
          <p:nvPr/>
        </p:nvCxnSpPr>
        <p:spPr>
          <a:xfrm>
            <a:off x="5082209" y="1192695"/>
            <a:ext cx="0" cy="11860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32A003A6-E0CA-BF55-2471-2C03B362F393}"/>
              </a:ext>
            </a:extLst>
          </p:cNvPr>
          <p:cNvSpPr/>
          <p:nvPr/>
        </p:nvSpPr>
        <p:spPr>
          <a:xfrm>
            <a:off x="3995530" y="2445026"/>
            <a:ext cx="2438398" cy="816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897891B-A28A-F82B-1C33-EFAFB563A2BC}"/>
              </a:ext>
            </a:extLst>
          </p:cNvPr>
          <p:cNvSpPr txBox="1"/>
          <p:nvPr/>
        </p:nvSpPr>
        <p:spPr>
          <a:xfrm>
            <a:off x="4585252" y="887895"/>
            <a:ext cx="9939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dirty="0"/>
              <a:t>DESeq2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28F66A7-1B9C-F095-300E-B4AEE48B8B7B}"/>
              </a:ext>
            </a:extLst>
          </p:cNvPr>
          <p:cNvSpPr/>
          <p:nvPr/>
        </p:nvSpPr>
        <p:spPr>
          <a:xfrm>
            <a:off x="6493565" y="2445026"/>
            <a:ext cx="3114261" cy="81674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6A0CFF6-C72D-5AE0-58B2-BC27C470DC83}"/>
              </a:ext>
            </a:extLst>
          </p:cNvPr>
          <p:cNvCxnSpPr/>
          <p:nvPr/>
        </p:nvCxnSpPr>
        <p:spPr>
          <a:xfrm>
            <a:off x="7991061" y="1192695"/>
            <a:ext cx="0" cy="1186070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D8350D5-62DB-9420-3078-A6BF12446F2E}"/>
              </a:ext>
            </a:extLst>
          </p:cNvPr>
          <p:cNvSpPr txBox="1"/>
          <p:nvPr/>
        </p:nvSpPr>
        <p:spPr>
          <a:xfrm>
            <a:off x="7447722" y="887895"/>
            <a:ext cx="16233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dirty="0"/>
              <a:t>log2TPM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6172C75-852C-1360-4B0F-35DFE6F619A8}"/>
              </a:ext>
            </a:extLst>
          </p:cNvPr>
          <p:cNvSpPr/>
          <p:nvPr/>
        </p:nvSpPr>
        <p:spPr>
          <a:xfrm>
            <a:off x="9607826" y="2445026"/>
            <a:ext cx="2584174" cy="81674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D511B6E-B493-8668-0F0B-165BACDECF6D}"/>
              </a:ext>
            </a:extLst>
          </p:cNvPr>
          <p:cNvCxnSpPr/>
          <p:nvPr/>
        </p:nvCxnSpPr>
        <p:spPr>
          <a:xfrm>
            <a:off x="10992678" y="1192695"/>
            <a:ext cx="0" cy="1186070"/>
          </a:xfrm>
          <a:prstGeom prst="straightConnector1">
            <a:avLst/>
          </a:prstGeom>
          <a:ln>
            <a:solidFill>
              <a:schemeClr val="accent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7DFD6D58-4752-2F54-FD0E-40863BCE2408}"/>
              </a:ext>
            </a:extLst>
          </p:cNvPr>
          <p:cNvSpPr txBox="1"/>
          <p:nvPr/>
        </p:nvSpPr>
        <p:spPr>
          <a:xfrm>
            <a:off x="10611678" y="887895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dirty="0"/>
              <a:t>flux</a:t>
            </a:r>
          </a:p>
        </p:txBody>
      </p:sp>
    </p:spTree>
    <p:extLst>
      <p:ext uri="{BB962C8B-B14F-4D97-AF65-F5344CB8AC3E}">
        <p14:creationId xmlns:p14="http://schemas.microsoft.com/office/powerpoint/2010/main" val="2046042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E8DEE15-F006-4ED5-6F0D-951087B00790}"/>
              </a:ext>
            </a:extLst>
          </p:cNvPr>
          <p:cNvSpPr txBox="1"/>
          <p:nvPr/>
        </p:nvSpPr>
        <p:spPr>
          <a:xfrm>
            <a:off x="430696" y="238539"/>
            <a:ext cx="113306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dirty="0"/>
              <a:t>Uporaba STROGIH pogojev:</a:t>
            </a:r>
          </a:p>
          <a:p>
            <a:r>
              <a:rPr lang="sl-SI" dirty="0"/>
              <a:t>(</a:t>
            </a:r>
            <a:r>
              <a:rPr lang="nl-NL" b="1" dirty="0"/>
              <a:t>wilcox_padj_log2TPM</a:t>
            </a:r>
            <a:r>
              <a:rPr lang="nl-NL" dirty="0"/>
              <a:t>&lt;0,01 </a:t>
            </a:r>
            <a:r>
              <a:rPr lang="sl-SI" dirty="0"/>
              <a:t> </a:t>
            </a:r>
            <a:r>
              <a:rPr lang="nl-NL" b="1" dirty="0"/>
              <a:t>AUC_log2TPM</a:t>
            </a:r>
            <a:r>
              <a:rPr lang="nl-NL" dirty="0"/>
              <a:t>&gt;0,8</a:t>
            </a:r>
            <a:r>
              <a:rPr lang="sl-SI" dirty="0"/>
              <a:t>)  IN  (</a:t>
            </a:r>
            <a:r>
              <a:rPr lang="sl-SI" b="1" dirty="0"/>
              <a:t>wilcox_padj_flux</a:t>
            </a:r>
            <a:r>
              <a:rPr lang="sl-SI" dirty="0"/>
              <a:t>&lt;0,01  </a:t>
            </a:r>
            <a:r>
              <a:rPr lang="sl-SI" b="1" dirty="0"/>
              <a:t>AUC_flux</a:t>
            </a:r>
            <a:r>
              <a:rPr lang="sl-SI" dirty="0"/>
              <a:t>&gt;0,8)</a:t>
            </a:r>
          </a:p>
          <a:p>
            <a:endParaRPr lang="sl-SI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4DD132-6B21-D49A-D065-988961F870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54893"/>
            <a:ext cx="12192000" cy="114956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4943196-62B3-AEB4-3072-D3111ABB0F1F}"/>
              </a:ext>
            </a:extLst>
          </p:cNvPr>
          <p:cNvSpPr txBox="1"/>
          <p:nvPr/>
        </p:nvSpPr>
        <p:spPr>
          <a:xfrm>
            <a:off x="311426" y="1252330"/>
            <a:ext cx="61423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dirty="0"/>
              <a:t>5 kandidatov za markerski gen/reakcijo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96B1A6B-AE49-01B4-B1DF-AD72269819D0}"/>
              </a:ext>
            </a:extLst>
          </p:cNvPr>
          <p:cNvCxnSpPr/>
          <p:nvPr/>
        </p:nvCxnSpPr>
        <p:spPr>
          <a:xfrm>
            <a:off x="83762" y="2387212"/>
            <a:ext cx="12108238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14357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02DF428-DC9C-32AD-67D2-B198DF3CF03B}"/>
              </a:ext>
            </a:extLst>
          </p:cNvPr>
          <p:cNvSpPr txBox="1"/>
          <p:nvPr/>
        </p:nvSpPr>
        <p:spPr>
          <a:xfrm>
            <a:off x="3520324" y="635194"/>
            <a:ext cx="5789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dirty="0"/>
              <a:t>ENSG00000128039, MAR01976, Androgen metabolism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7036EE-6DBD-2B2F-34A7-710509B6B1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14" y="86890"/>
            <a:ext cx="12079386" cy="485843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A49FAB1-9904-840F-1543-873C20BFE32A}"/>
              </a:ext>
            </a:extLst>
          </p:cNvPr>
          <p:cNvCxnSpPr/>
          <p:nvPr/>
        </p:nvCxnSpPr>
        <p:spPr>
          <a:xfrm flipH="1">
            <a:off x="2261569" y="1026082"/>
            <a:ext cx="2045185" cy="8585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891906E3-C62F-02CA-0D6D-3EBCEBF7163A}"/>
              </a:ext>
            </a:extLst>
          </p:cNvPr>
          <p:cNvSpPr txBox="1"/>
          <p:nvPr/>
        </p:nvSpPr>
        <p:spPr>
          <a:xfrm>
            <a:off x="556590" y="1884641"/>
            <a:ext cx="4459357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sz="1600" dirty="0"/>
              <a:t>Steroid 5 alfa-reduktaza 3</a:t>
            </a:r>
          </a:p>
          <a:p>
            <a:r>
              <a:rPr lang="sl-SI" sz="1600" dirty="0"/>
              <a:t>-uniprot: Q9H8P0</a:t>
            </a:r>
          </a:p>
          <a:p>
            <a:r>
              <a:rPr lang="sl-SI" sz="1600" dirty="0"/>
              <a:t>-v tumorjih bolj izražena</a:t>
            </a:r>
          </a:p>
          <a:p>
            <a:r>
              <a:rPr lang="sl-SI" sz="1600" dirty="0"/>
              <a:t>-pomemben za N-glikolizacijo proteinov (</a:t>
            </a:r>
            <a:r>
              <a:rPr lang="en-US" sz="1600" dirty="0"/>
              <a:t> conversion of </a:t>
            </a:r>
            <a:r>
              <a:rPr lang="en-US" sz="1600" dirty="0" err="1"/>
              <a:t>polyprenol</a:t>
            </a:r>
            <a:r>
              <a:rPr lang="en-US" sz="1600" dirty="0"/>
              <a:t> into dolichol</a:t>
            </a:r>
            <a:r>
              <a:rPr lang="sl-SI" sz="1600" dirty="0"/>
              <a:t>- which are precursors for N-glycosylation)</a:t>
            </a:r>
          </a:p>
          <a:p>
            <a:r>
              <a:rPr lang="sl-SI" sz="1600" dirty="0"/>
              <a:t>-pomemben za pretvorbo testosterona v </a:t>
            </a:r>
            <a:r>
              <a:rPr lang="sl-SI" sz="1600" u="sng" dirty="0"/>
              <a:t>5-alfa-dihidrotestosteron (DHT)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2796F08-1213-6BBD-B96C-5F94D6C58C8B}"/>
              </a:ext>
            </a:extLst>
          </p:cNvPr>
          <p:cNvCxnSpPr>
            <a:cxnSpLocks/>
          </p:cNvCxnSpPr>
          <p:nvPr/>
        </p:nvCxnSpPr>
        <p:spPr>
          <a:xfrm>
            <a:off x="2034209" y="3896140"/>
            <a:ext cx="0" cy="6029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10C3BD9-DF3B-2928-C62C-E5D035DA23FB}"/>
              </a:ext>
            </a:extLst>
          </p:cNvPr>
          <p:cNvSpPr txBox="1"/>
          <p:nvPr/>
        </p:nvSpPr>
        <p:spPr>
          <a:xfrm>
            <a:off x="424069" y="4499113"/>
            <a:ext cx="322027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sz="1600" dirty="0"/>
              <a:t>Še bolj učinkovit kot testosteron, saj ima večjo afiniteto na androgen receptor:povečane proliferacije, spremembe metabolizma celice (povečana sinteza lipidov, povečana glikoliza, povečana sinteza aminokislin, povečana sinteza nukleotidov…)( in razvoja sekundarnih spolnih znakov)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C4B406B-916E-DB70-9DBC-626823BE792B}"/>
              </a:ext>
            </a:extLst>
          </p:cNvPr>
          <p:cNvCxnSpPr>
            <a:cxnSpLocks/>
          </p:cNvCxnSpPr>
          <p:nvPr/>
        </p:nvCxnSpPr>
        <p:spPr>
          <a:xfrm>
            <a:off x="6152307" y="1026082"/>
            <a:ext cx="1305339" cy="11741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1C37810-CE52-08FF-4681-EEDB08591268}"/>
              </a:ext>
            </a:extLst>
          </p:cNvPr>
          <p:cNvSpPr txBox="1"/>
          <p:nvPr/>
        </p:nvSpPr>
        <p:spPr>
          <a:xfrm>
            <a:off x="6152307" y="2223838"/>
            <a:ext cx="55129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sz="1600" dirty="0"/>
              <a:t>Redukcija testosterona v 5-alfa-dihidrotestosteron (DHT)</a:t>
            </a:r>
          </a:p>
          <a:p>
            <a:r>
              <a:rPr lang="sl-SI" sz="1600" dirty="0"/>
              <a:t>-v tumorjih večji flux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54BC90CA-D4E6-344B-5C77-0ACB115089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0557" y="3030856"/>
            <a:ext cx="4121423" cy="1468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24758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E107C03E-A99B-1842-E6D9-DD30D8C25F4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sl-SI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6578C3-90DE-2142-6351-1AD86EA75C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6093"/>
            <a:ext cx="5643969" cy="492594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4A9E059-38A3-ED38-ADAB-8EE5967E87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2506" y="686093"/>
            <a:ext cx="5643969" cy="492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51831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1B53543-D727-ADFC-B61B-3548D4A357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58875"/>
            <a:ext cx="6000615" cy="523722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A438CA3-BDFD-C8FA-8E44-1C7816519B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5655" y="1058875"/>
            <a:ext cx="6208552" cy="5418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7124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FB9C1B-E9FE-904A-1097-4ECFC7502C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9470"/>
            <a:ext cx="6000615" cy="523722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21C0859-0A6D-C88F-B756-F1F94DE005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0615" y="719646"/>
            <a:ext cx="6208552" cy="5418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85985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EAE45A9-2BD6-16B6-4290-82E02DF19C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95906"/>
            <a:ext cx="5920639" cy="516742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D468F74-FF32-4DB7-69B6-853D03EC4D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4317" y="695906"/>
            <a:ext cx="6120578" cy="5341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42482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4C42727-053D-9BB2-0422-9D294CEED1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371" y="1191497"/>
            <a:ext cx="5880651" cy="513252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4262F8B-4BAB-762B-6995-BC74F6389A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2916" y="1191497"/>
            <a:ext cx="5880651" cy="5132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3799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6D0783B-B25B-E07C-205B-A97B31578E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6888940"/>
              </p:ext>
            </p:extLst>
          </p:nvPr>
        </p:nvGraphicFramePr>
        <p:xfrm>
          <a:off x="3185767" y="1007165"/>
          <a:ext cx="7084668" cy="494030"/>
        </p:xfrm>
        <a:graphic>
          <a:graphicData uri="http://schemas.openxmlformats.org/drawingml/2006/table">
            <a:tbl>
              <a:tblPr/>
              <a:tblGrid>
                <a:gridCol w="7084668">
                  <a:extLst>
                    <a:ext uri="{9D8B030D-6E8A-4147-A177-3AD203B41FA5}">
                      <a16:colId xmlns:a16="http://schemas.microsoft.com/office/drawing/2014/main" val="184722930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sl-SI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ENSG00000176153, MAR04116, Glutathione metabolism</a:t>
                      </a:r>
                    </a:p>
                    <a:p>
                      <a:pPr algn="l" fontAlgn="b">
                        <a:buNone/>
                      </a:pPr>
                      <a:endParaRPr lang="sl-SI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798520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5FBA9FEE-5763-E185-5365-C97A3397F3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667" y="377655"/>
            <a:ext cx="12060333" cy="457264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D346E6C-87C4-BCB3-9912-116722485FD2}"/>
              </a:ext>
            </a:extLst>
          </p:cNvPr>
          <p:cNvCxnSpPr/>
          <p:nvPr/>
        </p:nvCxnSpPr>
        <p:spPr>
          <a:xfrm flipH="1">
            <a:off x="2630557" y="1258957"/>
            <a:ext cx="1464365" cy="9806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33D02561-D594-7670-3BD9-CED5F05AF175}"/>
              </a:ext>
            </a:extLst>
          </p:cNvPr>
          <p:cNvSpPr txBox="1"/>
          <p:nvPr/>
        </p:nvSpPr>
        <p:spPr>
          <a:xfrm>
            <a:off x="523461" y="2445026"/>
            <a:ext cx="477447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dirty="0"/>
              <a:t>Glutation peroksidaza 2 (Gpx2)</a:t>
            </a:r>
          </a:p>
          <a:p>
            <a:r>
              <a:rPr lang="sl-SI" dirty="0"/>
              <a:t>-uniprot: P18283</a:t>
            </a:r>
          </a:p>
          <a:p>
            <a:r>
              <a:rPr lang="sl-SI" dirty="0"/>
              <a:t>-večje izražanje v tumorskih celicah</a:t>
            </a:r>
          </a:p>
          <a:p>
            <a:r>
              <a:rPr lang="sl-SI" dirty="0"/>
              <a:t>-vzdrževanje redoks homeostaze v celici- redukcija hidroperoksidov (npr. H2O2, tert-butil hidroperoksid…)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1D8BDF8-E157-E8EF-C7FD-BCA1FAAFFA42}"/>
              </a:ext>
            </a:extLst>
          </p:cNvPr>
          <p:cNvCxnSpPr/>
          <p:nvPr/>
        </p:nvCxnSpPr>
        <p:spPr>
          <a:xfrm>
            <a:off x="2630557" y="4334675"/>
            <a:ext cx="0" cy="11656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18E187B-4CBD-C567-9E33-21004BF94EC0}"/>
              </a:ext>
            </a:extLst>
          </p:cNvPr>
          <p:cNvSpPr txBox="1"/>
          <p:nvPr/>
        </p:nvSpPr>
        <p:spPr>
          <a:xfrm>
            <a:off x="439750" y="5591102"/>
            <a:ext cx="390190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dirty="0"/>
              <a:t>Pretovrba toksičnih ROS v vodo. Tekom povečane glikolize/rasti tumorske celice, nastane več ROS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9D764E7-7B42-1BC9-905C-F9110AAE5A2F}"/>
              </a:ext>
            </a:extLst>
          </p:cNvPr>
          <p:cNvCxnSpPr>
            <a:cxnSpLocks/>
          </p:cNvCxnSpPr>
          <p:nvPr/>
        </p:nvCxnSpPr>
        <p:spPr>
          <a:xfrm>
            <a:off x="5416598" y="1258957"/>
            <a:ext cx="2191768" cy="10310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0A9BCB7E-EC02-FA0A-A913-05CA34A40B02}"/>
              </a:ext>
            </a:extLst>
          </p:cNvPr>
          <p:cNvSpPr txBox="1"/>
          <p:nvPr/>
        </p:nvSpPr>
        <p:spPr>
          <a:xfrm>
            <a:off x="5681844" y="2561716"/>
            <a:ext cx="53537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dirty="0"/>
              <a:t>Oksidacija glutationa (GSH-&gt;GSSG)</a:t>
            </a:r>
          </a:p>
          <a:p>
            <a:r>
              <a:rPr lang="sl-SI" dirty="0"/>
              <a:t>-povečani fluxi v tumorksih celicah</a:t>
            </a:r>
          </a:p>
          <a:p>
            <a:r>
              <a:rPr lang="sl-SI" dirty="0"/>
              <a:t> 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01FF3A3-744C-AB1B-3778-6EE8A32DD5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5061" y="3485046"/>
            <a:ext cx="5877289" cy="3097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92166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D8D2475-67ED-F82D-922F-984BE5391B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31" y="1047713"/>
            <a:ext cx="5456779" cy="476257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47AA3CC-FD1C-82F5-2D0C-2F59183E0A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047713"/>
            <a:ext cx="5456779" cy="4762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93146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7864CAB-6951-C2FC-4BB7-5AB28E8C59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351" y="619123"/>
            <a:ext cx="6088589" cy="531400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6EF1F0E-C8C7-96C7-3767-ABDCCECF20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2864" y="619124"/>
            <a:ext cx="6088588" cy="5314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34217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7E70D7A-6305-450F-7445-E0AE78F6F6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3431"/>
            <a:ext cx="6158983" cy="537544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259D866-E4A1-B470-FEA9-38F37AF01B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8982" y="863430"/>
            <a:ext cx="6158985" cy="5375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9542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77D9BFA-6F2C-A369-60E7-2CA25BA167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08" y="882987"/>
            <a:ext cx="6016892" cy="525142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A0273ED-D4CC-8ED7-D355-13776C317F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2929" y="882987"/>
            <a:ext cx="6016892" cy="525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19559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D6E3D04-2740-B81F-AB5D-E341EEB43F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33085"/>
            <a:ext cx="6064595" cy="529306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FBEE6D4-6C6A-2DBB-9F69-3DD8F32D9F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4595" y="633086"/>
            <a:ext cx="6064596" cy="5293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41806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F8A102-C0A3-4770-299C-B9E473B1D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5D97A9B-B4DE-2198-F23D-B67B026AB11E}"/>
              </a:ext>
            </a:extLst>
          </p:cNvPr>
          <p:cNvSpPr txBox="1"/>
          <p:nvPr/>
        </p:nvSpPr>
        <p:spPr>
          <a:xfrm>
            <a:off x="430696" y="238539"/>
            <a:ext cx="113306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dirty="0"/>
              <a:t>Uporaba MILEJŠIH pogojev:</a:t>
            </a:r>
          </a:p>
          <a:p>
            <a:r>
              <a:rPr lang="sl-SI" dirty="0"/>
              <a:t>(</a:t>
            </a:r>
            <a:r>
              <a:rPr lang="nl-NL" b="1" dirty="0"/>
              <a:t>wilcox_padj_log2TPM</a:t>
            </a:r>
            <a:r>
              <a:rPr lang="nl-NL" dirty="0"/>
              <a:t>&lt;0,01 </a:t>
            </a:r>
            <a:r>
              <a:rPr lang="sl-SI" dirty="0"/>
              <a:t> </a:t>
            </a:r>
            <a:r>
              <a:rPr lang="nl-NL" b="1" dirty="0"/>
              <a:t>AUC_log2TPM</a:t>
            </a:r>
            <a:r>
              <a:rPr lang="nl-NL" dirty="0"/>
              <a:t>&gt;0,8</a:t>
            </a:r>
            <a:r>
              <a:rPr lang="sl-SI" dirty="0"/>
              <a:t> ) ALI  (</a:t>
            </a:r>
            <a:r>
              <a:rPr lang="sl-SI" b="1" dirty="0"/>
              <a:t>wilcox_padj_flux</a:t>
            </a:r>
            <a:r>
              <a:rPr lang="sl-SI" dirty="0"/>
              <a:t>&lt;0,01  </a:t>
            </a:r>
            <a:r>
              <a:rPr lang="sl-SI" b="1" dirty="0"/>
              <a:t>AUC_flux</a:t>
            </a:r>
            <a:r>
              <a:rPr lang="sl-SI" dirty="0"/>
              <a:t>&gt;0,8)</a:t>
            </a:r>
          </a:p>
          <a:p>
            <a:endParaRPr lang="sl-SI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EB4181-C583-A33D-8827-CEB80C1BEF41}"/>
              </a:ext>
            </a:extLst>
          </p:cNvPr>
          <p:cNvSpPr txBox="1"/>
          <p:nvPr/>
        </p:nvSpPr>
        <p:spPr>
          <a:xfrm>
            <a:off x="311426" y="1252330"/>
            <a:ext cx="61423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dirty="0"/>
              <a:t>762 kandidatov za markerski gen/reakcijo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7F0D7B2-1C38-CEA4-8BD2-79F5272B74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461" y="1785340"/>
            <a:ext cx="11907077" cy="3820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49216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69B7FC1-B5AE-A8FE-3483-BECF3681CE13}"/>
              </a:ext>
            </a:extLst>
          </p:cNvPr>
          <p:cNvSpPr txBox="1"/>
          <p:nvPr/>
        </p:nvSpPr>
        <p:spPr>
          <a:xfrm>
            <a:off x="430696" y="238539"/>
            <a:ext cx="113306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dirty="0"/>
              <a:t>Uporaba MILEJŠIH pogojev:</a:t>
            </a:r>
          </a:p>
          <a:p>
            <a:r>
              <a:rPr lang="sl-SI" dirty="0"/>
              <a:t>(</a:t>
            </a:r>
            <a:r>
              <a:rPr lang="nl-NL" b="1" dirty="0"/>
              <a:t>wilcox_padj_log2TPM</a:t>
            </a:r>
            <a:r>
              <a:rPr lang="nl-NL" dirty="0"/>
              <a:t>&lt;0,01 </a:t>
            </a:r>
            <a:r>
              <a:rPr lang="sl-SI" dirty="0"/>
              <a:t> </a:t>
            </a:r>
            <a:r>
              <a:rPr lang="nl-NL" b="1" dirty="0"/>
              <a:t>AUC_log2TPM</a:t>
            </a:r>
            <a:r>
              <a:rPr lang="nl-NL" dirty="0"/>
              <a:t>&gt;0,8</a:t>
            </a:r>
            <a:r>
              <a:rPr lang="sl-SI" dirty="0"/>
              <a:t> ) ALI  (</a:t>
            </a:r>
            <a:r>
              <a:rPr lang="sl-SI" b="1" dirty="0"/>
              <a:t>wilcox_padj_flux</a:t>
            </a:r>
            <a:r>
              <a:rPr lang="sl-SI" dirty="0"/>
              <a:t>&lt;0,01  </a:t>
            </a:r>
            <a:r>
              <a:rPr lang="sl-SI" b="1" dirty="0"/>
              <a:t>AUC_flux</a:t>
            </a:r>
            <a:r>
              <a:rPr lang="sl-SI" dirty="0"/>
              <a:t>&gt;0,8)</a:t>
            </a:r>
          </a:p>
          <a:p>
            <a:endParaRPr lang="sl-SI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104022-3443-4BC9-0115-446836B9204A}"/>
              </a:ext>
            </a:extLst>
          </p:cNvPr>
          <p:cNvSpPr txBox="1"/>
          <p:nvPr/>
        </p:nvSpPr>
        <p:spPr>
          <a:xfrm>
            <a:off x="430696" y="854764"/>
            <a:ext cx="61423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dirty="0"/>
              <a:t>762 kandidatov za markerski gen/reakcijo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E9B3489B-E738-8CF3-B977-26568478C87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75021281"/>
              </p:ext>
            </p:extLst>
          </p:nvPr>
        </p:nvGraphicFramePr>
        <p:xfrm>
          <a:off x="0" y="1716157"/>
          <a:ext cx="12105861" cy="48724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6990886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2AB8EFB-056B-D878-E335-CAEE60801219}"/>
              </a:ext>
            </a:extLst>
          </p:cNvPr>
          <p:cNvSpPr txBox="1"/>
          <p:nvPr/>
        </p:nvSpPr>
        <p:spPr>
          <a:xfrm>
            <a:off x="430696" y="238539"/>
            <a:ext cx="113306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dirty="0"/>
              <a:t>Uporaba MILEJŠIH pogojev:</a:t>
            </a:r>
          </a:p>
          <a:p>
            <a:r>
              <a:rPr lang="sl-SI" dirty="0"/>
              <a:t>(</a:t>
            </a:r>
            <a:r>
              <a:rPr lang="nl-NL" b="1" dirty="0"/>
              <a:t>wilcox_padj_log2TPM</a:t>
            </a:r>
            <a:r>
              <a:rPr lang="nl-NL" dirty="0"/>
              <a:t>&lt;0,01 </a:t>
            </a:r>
            <a:r>
              <a:rPr lang="sl-SI" dirty="0"/>
              <a:t> </a:t>
            </a:r>
            <a:r>
              <a:rPr lang="nl-NL" b="1" dirty="0"/>
              <a:t>AUC_log2TPM</a:t>
            </a:r>
            <a:r>
              <a:rPr lang="nl-NL" dirty="0"/>
              <a:t>&gt;0,</a:t>
            </a:r>
            <a:r>
              <a:rPr lang="sl-SI" dirty="0"/>
              <a:t>9 ) ALI  (</a:t>
            </a:r>
            <a:r>
              <a:rPr lang="sl-SI" b="1" dirty="0"/>
              <a:t>wilcox_padj_flux</a:t>
            </a:r>
            <a:r>
              <a:rPr lang="sl-SI" dirty="0"/>
              <a:t>&lt;0,01  </a:t>
            </a:r>
            <a:r>
              <a:rPr lang="sl-SI" b="1" dirty="0"/>
              <a:t>AUC_flux</a:t>
            </a:r>
            <a:r>
              <a:rPr lang="sl-SI" dirty="0"/>
              <a:t>&gt;0,9)</a:t>
            </a:r>
          </a:p>
          <a:p>
            <a:endParaRPr lang="sl-SI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431060-9A69-64C4-B2AD-4C6BA513FDEE}"/>
              </a:ext>
            </a:extLst>
          </p:cNvPr>
          <p:cNvSpPr txBox="1"/>
          <p:nvPr/>
        </p:nvSpPr>
        <p:spPr>
          <a:xfrm>
            <a:off x="496956" y="977203"/>
            <a:ext cx="61423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dirty="0"/>
              <a:t>264 kandidatov za markerski gen/reakcijo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565BFA47-A527-2E55-876E-E5D70692407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33065017"/>
              </p:ext>
            </p:extLst>
          </p:nvPr>
        </p:nvGraphicFramePr>
        <p:xfrm>
          <a:off x="213716" y="1531201"/>
          <a:ext cx="11978284" cy="55503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6226146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542</TotalTime>
  <Words>345</Words>
  <Application>Microsoft Office PowerPoint</Application>
  <PresentationFormat>Widescreen</PresentationFormat>
  <Paragraphs>39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Aptos</vt:lpstr>
      <vt:lpstr>Aptos Display</vt:lpstr>
      <vt:lpstr>Aptos Narrow</vt:lpstr>
      <vt:lpstr>Arial</vt:lpstr>
      <vt:lpstr>Office Theme</vt:lpstr>
      <vt:lpstr>Final results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Veler, Jakob Urh</dc:creator>
  <cp:lastModifiedBy>Veler, Jakob Urh</cp:lastModifiedBy>
  <cp:revision>8</cp:revision>
  <dcterms:created xsi:type="dcterms:W3CDTF">2026-04-01T11:21:03Z</dcterms:created>
  <dcterms:modified xsi:type="dcterms:W3CDTF">2026-07-12T21:03:24Z</dcterms:modified>
</cp:coreProperties>
</file>