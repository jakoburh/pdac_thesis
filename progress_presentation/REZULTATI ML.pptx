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9" r:id="rId3"/>
    <p:sldId id="262" r:id="rId4"/>
    <p:sldId id="263" r:id="rId5"/>
    <p:sldId id="266" r:id="rId6"/>
    <p:sldId id="264" r:id="rId7"/>
    <p:sldId id="261" r:id="rId8"/>
    <p:sldId id="257" r:id="rId9"/>
    <p:sldId id="258" r:id="rId10"/>
    <p:sldId id="259" r:id="rId11"/>
    <p:sldId id="276" r:id="rId12"/>
    <p:sldId id="260" r:id="rId13"/>
    <p:sldId id="265" r:id="rId14"/>
    <p:sldId id="267" r:id="rId15"/>
    <p:sldId id="268" r:id="rId16"/>
    <p:sldId id="274" r:id="rId17"/>
    <p:sldId id="270" r:id="rId18"/>
    <p:sldId id="272" r:id="rId19"/>
    <p:sldId id="271" r:id="rId20"/>
    <p:sldId id="275" r:id="rId21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01" autoAdjust="0"/>
    <p:restoredTop sz="94660"/>
  </p:normalViewPr>
  <p:slideViewPr>
    <p:cSldViewPr snapToGrid="0">
      <p:cViewPr varScale="1">
        <p:scale>
          <a:sx n="91" d="100"/>
          <a:sy n="91" d="100"/>
        </p:scale>
        <p:origin x="3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6C903-39AD-46F1-A158-CD33CF2E0C78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C165F-8257-4EDD-B2C7-DDF638CDF844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631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C165F-8257-4EDD-B2C7-DDF638CDF844}" type="slidenum">
              <a:rPr lang="sl-SI" smtClean="0"/>
              <a:t>16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33797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7C165F-8257-4EDD-B2C7-DDF638CDF844}" type="slidenum">
              <a:rPr lang="sl-SI" smtClean="0"/>
              <a:t>17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50197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889E-54CA-120C-374A-077F2B2FE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07698-3405-1F2F-7522-B18054EE0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E14DA-314D-BDC3-6C2C-BED5EC7F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9BC95-3429-2E18-6330-AFB2D370E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2744-D3C5-C4A1-3D27-793609BD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94842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B921-7B87-6908-422B-38C43F831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3E7F2-D060-E9EB-5C8C-FB3985142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269C8-CE11-92C7-034D-9AE0CFF5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DAB1B-EC04-E69B-F8D5-5FA67467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A43C5-D759-B52B-7B93-392E6DB2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63861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BFC7-7F34-ECFC-8D32-F61AC2FB6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C1FB7-4B8B-9148-4E12-8D860E47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8C293-A622-68B7-BA91-2D6AC7B3A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1EB4B-F778-442B-7EB6-C5F59B32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7D234-008B-4006-B722-90933CE9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77881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4C5F-D798-1CC5-C1B5-A3EAF016A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F133-F8B1-7FE2-C8E8-4739CC3DF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C0C4B-E073-1139-6CBB-9C5F3DEF2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99ECC-7DBA-CD61-B5D5-D799DCD54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06428-6476-ACD1-F366-2D5DD24E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1565F-5021-D4FF-F1A2-0C21D0A3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08896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DF7D-B801-4623-B755-8F6F7E06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E0B7C-0D52-6B27-B783-A91284AC7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38495E-F8D7-FDE6-7CEA-C3B9CB547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FAEE9-0995-3F5C-1DC3-FEAB27C92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B42E32-0192-58C2-A7E4-58D2B02EE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0AE62-2AB1-1091-5FFC-3E6BDB57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EE0D8E-9C51-87F5-3E0C-2852763D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78258C-546B-826B-44F1-B6161B2A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9543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3F33-9F9A-53D7-51E4-0096D8E9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4035E-A1F7-7742-689F-EC8E4D34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DE65D-5AD5-EFA8-39DA-47674F1D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FFFD83-288D-A1BE-911D-37DEC074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7195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154158-EEC7-7B07-5D59-5DF4834F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5D980-36A5-006E-0D83-7A4004FB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AABA8-389D-4AA0-4C64-60CF2644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5886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FC0C-6ECF-712E-4D77-98BDA81AE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7010-8B4D-809A-546D-D51AC78A3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27A3C-DA94-1A18-D971-1F42FC4E8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2EAD8-2FC9-F43D-1197-1F46DFE89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963E3-413B-EC0C-D1CB-5C16802DF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E80EC-CEE9-DE46-F609-1CA89AC8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7295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9AB5-288B-F539-6E78-A357490B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F58ADF-9775-1089-DB88-0C785D098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EF068-8870-8902-102D-C6518494AE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C55AB-6A06-32A8-97F2-099F8ABD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6F612-73AA-6F26-56D4-406C73F06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4FB5E-2E0C-0DB7-DCBB-865EF9B1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49914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2026-81CD-C727-4CCB-9D9BCA26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DA471-C930-6F1E-DEA2-AC48DC478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D6A34-919B-6BD2-6EB2-A7064BA3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0C51C-C0E6-B087-F4EA-0D8B114C2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3C05D-2FDB-C55F-828A-03B065EDD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54031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0DEAB-D84F-2A2A-27CE-4F3D81482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6DD34-8F9D-CD84-C6A2-4FB9DFEFA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FA1EB-CA93-A300-CFBF-70307022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7E1A-5C43-4854-DC91-7D653479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7DA8A-8A3F-0BDB-63F4-C5F50799C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3671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B3EFA-067C-85F3-791A-98C781B7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l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8A896-62B3-1876-1491-6717E70CC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l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82CF3-88E0-60DF-E332-2AC2E14FC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46FEE-996A-4B8D-BC38-324641EF1A80}" type="datetimeFigureOut">
              <a:rPr lang="sl-SI" smtClean="0"/>
              <a:t>13. 07. 2026</a:t>
            </a:fld>
            <a:endParaRPr lang="sl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ED398-44E0-0626-65A1-4F2DA22971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6EEC1-2E5C-B5E8-531C-7C5482E41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D6743-C6DC-441C-BE6E-5872BDC2AA83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86173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AE43-D207-DB70-68E1-FD813FB773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/>
              <a:t>REZULTATI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BA5CEA-2F76-91C0-D317-33B479CD2C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24799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722B-4BE8-A44D-2407-71F530D2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LASSO LOGISTIČNA REGRESIJA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1B030-8A10-50D3-CF4B-F2B51D1C6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0257"/>
            <a:ext cx="4870175" cy="31519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47073-930B-BECE-7EAB-53C261F5F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265" y="1440257"/>
            <a:ext cx="7178408" cy="3345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B2B1-F46C-76B4-CADD-9EA49B52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NIVO GENOV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74CFB-E690-E945-E231-017B1854C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Vzel sem gene DESeq2 in log2TPM (count</a:t>
            </a:r>
            <a:r>
              <a:rPr lang="sl-SI" u="sng" dirty="0"/>
              <a:t>&gt;</a:t>
            </a:r>
            <a:r>
              <a:rPr lang="sl-SI" dirty="0"/>
              <a:t>10, log2FC&gt;abs(1), padj_DESeq2&lt;0,01, wilcox_padj_log2TPM&lt;0,01) kot 292 kandidatov -&gt; hitrejši potek analize</a:t>
            </a:r>
          </a:p>
          <a:p>
            <a:r>
              <a:rPr lang="sl-SI" dirty="0"/>
              <a:t>52 parov pacientov -&gt; 35 trening parov in 17 testnih parov</a:t>
            </a:r>
          </a:p>
          <a:p>
            <a:r>
              <a:rPr lang="sl-SI" dirty="0"/>
              <a:t>tumor = 1, normal = 0</a:t>
            </a:r>
          </a:p>
        </p:txBody>
      </p:sp>
    </p:spTree>
    <p:extLst>
      <p:ext uri="{BB962C8B-B14F-4D97-AF65-F5344CB8AC3E}">
        <p14:creationId xmlns:p14="http://schemas.microsoft.com/office/powerpoint/2010/main" val="140229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9F4AB6-0384-50B2-FF47-8F3E606A4A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93" y="86139"/>
            <a:ext cx="4240316" cy="4906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F7149-6357-366F-1272-EF8A4EF0B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284" y="86139"/>
            <a:ext cx="3128075" cy="6771861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DC5D26-7E7E-8A8D-59A1-95A6B2E180FD}"/>
              </a:ext>
            </a:extLst>
          </p:cNvPr>
          <p:cNvCxnSpPr>
            <a:cxnSpLocks/>
          </p:cNvCxnSpPr>
          <p:nvPr/>
        </p:nvCxnSpPr>
        <p:spPr>
          <a:xfrm flipV="1">
            <a:off x="5751443" y="556591"/>
            <a:ext cx="2226366" cy="225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6BA643-4D22-4417-CEB8-F221B449C0D3}"/>
              </a:ext>
            </a:extLst>
          </p:cNvPr>
          <p:cNvCxnSpPr>
            <a:cxnSpLocks/>
          </p:cNvCxnSpPr>
          <p:nvPr/>
        </p:nvCxnSpPr>
        <p:spPr>
          <a:xfrm>
            <a:off x="5738191" y="1192696"/>
            <a:ext cx="2179983" cy="776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A5BCE8-AD45-4279-7530-B5518854F62E}"/>
              </a:ext>
            </a:extLst>
          </p:cNvPr>
          <p:cNvCxnSpPr>
            <a:cxnSpLocks/>
          </p:cNvCxnSpPr>
          <p:nvPr/>
        </p:nvCxnSpPr>
        <p:spPr>
          <a:xfrm>
            <a:off x="5605670" y="1646064"/>
            <a:ext cx="2246243" cy="977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8B31EE-2FB5-DF05-7104-29BC5DCB6638}"/>
              </a:ext>
            </a:extLst>
          </p:cNvPr>
          <p:cNvCxnSpPr/>
          <p:nvPr/>
        </p:nvCxnSpPr>
        <p:spPr>
          <a:xfrm>
            <a:off x="5605670" y="2398643"/>
            <a:ext cx="2186608" cy="8547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FF32AA-B2C5-CA94-A8C1-56053F44E7BE}"/>
              </a:ext>
            </a:extLst>
          </p:cNvPr>
          <p:cNvCxnSpPr/>
          <p:nvPr/>
        </p:nvCxnSpPr>
        <p:spPr>
          <a:xfrm>
            <a:off x="5605670" y="2782957"/>
            <a:ext cx="2246243" cy="3432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8159273-889F-E556-918D-AFE10CC33352}"/>
              </a:ext>
            </a:extLst>
          </p:cNvPr>
          <p:cNvCxnSpPr/>
          <p:nvPr/>
        </p:nvCxnSpPr>
        <p:spPr>
          <a:xfrm flipV="1">
            <a:off x="5546035" y="3472069"/>
            <a:ext cx="2133600" cy="1431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F64628A-7B55-066D-4F4C-DCCCDFCE71CF}"/>
              </a:ext>
            </a:extLst>
          </p:cNvPr>
          <p:cNvSpPr txBox="1"/>
          <p:nvPr/>
        </p:nvSpPr>
        <p:spPr>
          <a:xfrm>
            <a:off x="10601359" y="5223084"/>
            <a:ext cx="151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Lambda.min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929D74-1052-AF9F-4461-02F6C3BEE970}"/>
              </a:ext>
            </a:extLst>
          </p:cNvPr>
          <p:cNvSpPr txBox="1"/>
          <p:nvPr/>
        </p:nvSpPr>
        <p:spPr>
          <a:xfrm>
            <a:off x="1921565" y="5223084"/>
            <a:ext cx="3955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Lambda.1se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FEC582-6A1A-EEA9-E92E-2728CE3BC21D}"/>
              </a:ext>
            </a:extLst>
          </p:cNvPr>
          <p:cNvSpPr txBox="1"/>
          <p:nvPr/>
        </p:nvSpPr>
        <p:spPr>
          <a:xfrm>
            <a:off x="-59635" y="299902"/>
            <a:ext cx="193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Random seed</a:t>
            </a:r>
          </a:p>
        </p:txBody>
      </p:sp>
    </p:spTree>
    <p:extLst>
      <p:ext uri="{BB962C8B-B14F-4D97-AF65-F5344CB8AC3E}">
        <p14:creationId xmlns:p14="http://schemas.microsoft.com/office/powerpoint/2010/main" val="138409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BFC04-6E16-2BC3-12A4-962B6ABE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F81DDA-5515-852B-FFDE-8CE293BF0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32" y="697016"/>
            <a:ext cx="9810597" cy="562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8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D061C-73A3-0859-9940-F70B219AD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100 seeds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52C44A-7EAC-C0C2-0909-3C2420F6B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179" y="34921"/>
            <a:ext cx="5106687" cy="678815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5A1D01C-DBC8-7D3B-B8B8-9BC68569091A}"/>
              </a:ext>
            </a:extLst>
          </p:cNvPr>
          <p:cNvCxnSpPr/>
          <p:nvPr/>
        </p:nvCxnSpPr>
        <p:spPr>
          <a:xfrm>
            <a:off x="9733722" y="205409"/>
            <a:ext cx="1093304" cy="503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8809293-9A05-FEE0-A04C-5DDFE46A8EDE}"/>
              </a:ext>
            </a:extLst>
          </p:cNvPr>
          <p:cNvSpPr txBox="1"/>
          <p:nvPr/>
        </p:nvSpPr>
        <p:spPr>
          <a:xfrm>
            <a:off x="10118035" y="781878"/>
            <a:ext cx="1736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600" dirty="0"/>
              <a:t>Unija genov pri lambda.1se in lambda.min</a:t>
            </a:r>
          </a:p>
        </p:txBody>
      </p:sp>
    </p:spTree>
    <p:extLst>
      <p:ext uri="{BB962C8B-B14F-4D97-AF65-F5344CB8AC3E}">
        <p14:creationId xmlns:p14="http://schemas.microsoft.com/office/powerpoint/2010/main" val="3631887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B7AC35-FF59-BDD7-DD30-202D4CD7B3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255" y="185328"/>
            <a:ext cx="6390517" cy="64873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089B14-9660-1096-6740-CBCD1BF2FAA8}"/>
              </a:ext>
            </a:extLst>
          </p:cNvPr>
          <p:cNvSpPr/>
          <p:nvPr/>
        </p:nvSpPr>
        <p:spPr>
          <a:xfrm>
            <a:off x="2137255" y="410817"/>
            <a:ext cx="6390517" cy="821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21006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1693E-24C7-8FE6-584A-C775355F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844" y="206099"/>
            <a:ext cx="10515600" cy="1325563"/>
          </a:xfrm>
        </p:spPr>
        <p:txBody>
          <a:bodyPr>
            <a:normAutofit/>
          </a:bodyPr>
          <a:lstStyle/>
          <a:p>
            <a:r>
              <a:rPr lang="sl-SI" sz="3200" dirty="0"/>
              <a:t>ENSG00000170786, epidermalna retinol dehidrogenaza 2</a:t>
            </a:r>
            <a:br>
              <a:rPr lang="sl-SI" sz="3200" dirty="0"/>
            </a:br>
            <a:endParaRPr lang="sl-SI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7455E-BC85-898F-BECC-44EDFD2AF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5" y="1253331"/>
            <a:ext cx="9494423" cy="3272286"/>
          </a:xfrm>
        </p:spPr>
        <p:txBody>
          <a:bodyPr>
            <a:normAutofit/>
          </a:bodyPr>
          <a:lstStyle/>
          <a:p>
            <a:r>
              <a:rPr lang="sl-SI" sz="1800" dirty="0"/>
              <a:t>Uniprot: </a:t>
            </a:r>
            <a:r>
              <a:rPr lang="sl-SI" sz="1800" b="1" dirty="0"/>
              <a:t>Q8N3Y7 </a:t>
            </a:r>
          </a:p>
          <a:p>
            <a:r>
              <a:rPr lang="sl-SI" sz="1800" dirty="0"/>
              <a:t>Oksidacija all-trans-retinol v all-trans-retinaldehid (prekurzor vitamina A) s pomočjo NAD+</a:t>
            </a:r>
          </a:p>
          <a:p>
            <a:r>
              <a:rPr lang="sl-SI" sz="1800" dirty="0"/>
              <a:t>V zdravem organizmu se večinoma nahaja v koži</a:t>
            </a:r>
          </a:p>
          <a:p>
            <a:r>
              <a:rPr lang="sl-SI" sz="1800" dirty="0"/>
              <a:t>Retinaldehid je ključen pri: vidu in regulaciji genov</a:t>
            </a:r>
          </a:p>
          <a:p>
            <a:endParaRPr lang="sl-SI" sz="1800" dirty="0"/>
          </a:p>
          <a:p>
            <a:endParaRPr lang="sl-SI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8FFD4-E8C5-802F-F334-7BD2DBD61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02705"/>
            <a:ext cx="12192000" cy="24039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A00C9C-4E19-C82E-4A3F-F2B416C40F4A}"/>
                  </a:ext>
                </a:extLst>
              </p:cNvPr>
              <p:cNvSpPr txBox="1"/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A00C9C-4E19-C82E-4A3F-F2B416C40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928" y="157072"/>
                <a:ext cx="2194677" cy="491673"/>
              </a:xfrm>
              <a:prstGeom prst="rect">
                <a:avLst/>
              </a:prstGeom>
              <a:blipFill>
                <a:blip r:embed="rId3"/>
                <a:stretch>
                  <a:fillRect l="-2222" b="-3750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5B575E-6630-2AAA-F011-038195AFCB26}"/>
              </a:ext>
            </a:extLst>
          </p:cNvPr>
          <p:cNvCxnSpPr/>
          <p:nvPr/>
        </p:nvCxnSpPr>
        <p:spPr>
          <a:xfrm>
            <a:off x="4724400" y="2729948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B19153-8DE6-2BF1-88FA-E46C25698D85}"/>
              </a:ext>
            </a:extLst>
          </p:cNvPr>
          <p:cNvSpPr txBox="1"/>
          <p:nvPr/>
        </p:nvSpPr>
        <p:spPr>
          <a:xfrm>
            <a:off x="7659756" y="1068665"/>
            <a:ext cx="4386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Retinaol-&gt;retinaldehi-&gt;retinojska kislina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7621C-95B1-8EC9-3C0D-3820F7F25EDC}"/>
              </a:ext>
            </a:extLst>
          </p:cNvPr>
          <p:cNvSpPr txBox="1"/>
          <p:nvPr/>
        </p:nvSpPr>
        <p:spPr>
          <a:xfrm>
            <a:off x="4108174" y="3266661"/>
            <a:ext cx="23853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Vezava retinojske kisline na jedrne receptorje (družina RAR)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DDCD90-9D34-B0CE-1947-9E777BD3FBA6}"/>
              </a:ext>
            </a:extLst>
          </p:cNvPr>
          <p:cNvSpPr txBox="1"/>
          <p:nvPr/>
        </p:nvSpPr>
        <p:spPr>
          <a:xfrm>
            <a:off x="46383" y="157072"/>
            <a:ext cx="5744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https://www.mdpi.com/2072-6643/13/5/1703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FC424DA-7347-6959-4E06-3A95A03DFC92}"/>
              </a:ext>
            </a:extLst>
          </p:cNvPr>
          <p:cNvCxnSpPr/>
          <p:nvPr/>
        </p:nvCxnSpPr>
        <p:spPr>
          <a:xfrm flipV="1">
            <a:off x="6427304" y="3617843"/>
            <a:ext cx="1974574" cy="53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356B34-2580-15B6-A180-C710C5F39DD4}"/>
              </a:ext>
            </a:extLst>
          </p:cNvPr>
          <p:cNvSpPr txBox="1"/>
          <p:nvPr/>
        </p:nvSpPr>
        <p:spPr>
          <a:xfrm>
            <a:off x="8613913" y="3266661"/>
            <a:ext cx="2928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Vpliv na proliferacijo, diferenciacijo (literatura ni jasna)</a:t>
            </a:r>
          </a:p>
        </p:txBody>
      </p:sp>
    </p:spTree>
    <p:extLst>
      <p:ext uri="{BB962C8B-B14F-4D97-AF65-F5344CB8AC3E}">
        <p14:creationId xmlns:p14="http://schemas.microsoft.com/office/powerpoint/2010/main" val="1918662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9719-0AAD-C25E-2273-561E1E77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ENSG00000138772, aneksin A3</a:t>
            </a:r>
            <a:br>
              <a:rPr lang="sl-SI" dirty="0"/>
            </a:br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6788-32AB-5073-BEAB-308864547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209" y="1811480"/>
            <a:ext cx="10515600" cy="4351338"/>
          </a:xfrm>
        </p:spPr>
        <p:txBody>
          <a:bodyPr>
            <a:normAutofit/>
          </a:bodyPr>
          <a:lstStyle/>
          <a:p>
            <a:r>
              <a:rPr lang="sl-SI" sz="1800" dirty="0"/>
              <a:t>Uniprot: </a:t>
            </a:r>
            <a:r>
              <a:rPr lang="sl-SI" sz="1800" b="1" dirty="0"/>
              <a:t>P12429 </a:t>
            </a:r>
          </a:p>
          <a:p>
            <a:r>
              <a:rPr lang="sl-SI" sz="1600" dirty="0">
                <a:latin typeface="+mj-lt"/>
              </a:rPr>
              <a:t>ANXA3 vpliva na sledeče signalne poti: PI3K/Akt , NF-</a:t>
            </a:r>
            <a:r>
              <a:rPr lang="el-GR" sz="1600" dirty="0">
                <a:latin typeface="+mj-lt"/>
              </a:rPr>
              <a:t>κ</a:t>
            </a:r>
            <a:r>
              <a:rPr lang="sl-SI" sz="1600" dirty="0">
                <a:latin typeface="+mj-lt"/>
              </a:rPr>
              <a:t>B, JNK, HIF-1</a:t>
            </a:r>
          </a:p>
          <a:p>
            <a:r>
              <a:rPr lang="sl-SI" sz="1600" dirty="0">
                <a:latin typeface="+mj-lt"/>
              </a:rPr>
              <a:t>V literaturi znan tumorski marker- povečano izražanje v tumorjih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D16258-9856-F2A0-ACBB-A8817FEA9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791" y="6003294"/>
            <a:ext cx="11615530" cy="4264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DE7B14-C6EA-E7CE-63E0-578780CED64B}"/>
                  </a:ext>
                </a:extLst>
              </p:cNvPr>
              <p:cNvSpPr txBox="1"/>
              <p:nvPr/>
            </p:nvSpPr>
            <p:spPr>
              <a:xfrm>
                <a:off x="9563998" y="110502"/>
                <a:ext cx="2194677" cy="491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l-SI" dirty="0"/>
                  <a:t>log2FC=log</a:t>
                </a:r>
                <a:r>
                  <a:rPr lang="sl-SI" sz="1000" dirty="0"/>
                  <a:t>2</a:t>
                </a:r>
                <a:r>
                  <a:rPr lang="sl-SI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sl-SI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𝑡𝑢𝑚𝑜𝑟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sl-SI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sl-SI" i="1">
                                <a:latin typeface="Cambria Math" panose="02040503050406030204" pitchFamily="18" charset="0"/>
                              </a:rPr>
                              <m:t>𝑧𝑑𝑟𝑎𝑣</m:t>
                            </m:r>
                          </m:sub>
                        </m:sSub>
                      </m:den>
                    </m:f>
                  </m:oMath>
                </a14:m>
                <a:r>
                  <a:rPr lang="sl-SI" dirty="0"/>
                  <a:t>)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DE7B14-C6EA-E7CE-63E0-578780CED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98" y="110502"/>
                <a:ext cx="2194677" cy="491673"/>
              </a:xfrm>
              <a:prstGeom prst="rect">
                <a:avLst/>
              </a:prstGeom>
              <a:blipFill>
                <a:blip r:embed="rId3"/>
                <a:stretch>
                  <a:fillRect l="-2500" b="-2469"/>
                </a:stretch>
              </a:blipFill>
            </p:spPr>
            <p:txBody>
              <a:bodyPr/>
              <a:lstStyle/>
              <a:p>
                <a:r>
                  <a:rPr lang="sl-S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6B0E76C-57FB-E544-4AF1-B05085C46FF3}"/>
              </a:ext>
            </a:extLst>
          </p:cNvPr>
          <p:cNvSpPr txBox="1"/>
          <p:nvPr/>
        </p:nvSpPr>
        <p:spPr>
          <a:xfrm>
            <a:off x="437322" y="165652"/>
            <a:ext cx="7951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1200" dirty="0"/>
              <a:t>https://www.spandidos-publications.com/10.3892/ol.2021.13095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A2F997-6069-ED64-1188-EFC8384164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611" y="3019926"/>
            <a:ext cx="5766551" cy="25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56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7448-53C7-2596-0244-0CA244C9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3200" dirty="0"/>
              <a:t>ENSG00000117394, pospešeni glukozni transporter 1</a:t>
            </a:r>
            <a:br>
              <a:rPr lang="sl-SI" sz="3200" dirty="0"/>
            </a:br>
            <a:endParaRPr lang="sl-SI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DA550-6B0D-E7E1-F03C-752964559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1600" dirty="0"/>
              <a:t>Uniprot: </a:t>
            </a:r>
            <a:r>
              <a:rPr lang="sl-SI" sz="1600" b="1" dirty="0"/>
              <a:t>P11166 </a:t>
            </a:r>
          </a:p>
          <a:p>
            <a:r>
              <a:rPr lang="sl-SI" sz="1600" dirty="0"/>
              <a:t>Pomemben za transport glukoze in drugih aldoz (pentoz, heksoz) v celico</a:t>
            </a:r>
          </a:p>
          <a:p>
            <a:r>
              <a:rPr lang="sl-SI" sz="1600" dirty="0"/>
              <a:t>Povečano izražanje v tumorskih celicah -&gt; večji prevzem glukoz kot vir energije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C071A9-1B69-5A64-D410-474C8AE4F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6882"/>
            <a:ext cx="12192000" cy="172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07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015E8E-92B9-39F0-1BF0-068434B37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sl-SI" dirty="0"/>
              <a:t>Vzel sem reakcije (wilcox_padj_flux&lt;0,01) kot 119 kandidatov -&gt; hitrejši potek analize</a:t>
            </a:r>
          </a:p>
          <a:p>
            <a:r>
              <a:rPr lang="sl-SI" dirty="0"/>
              <a:t>52 parov pacientov -&gt; 35 trening parov in 17 testnih parov</a:t>
            </a:r>
          </a:p>
          <a:p>
            <a:r>
              <a:rPr lang="sl-SI" dirty="0"/>
              <a:t>tumor = 1, normal = 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C95BF0-021F-CCCB-C463-0DB2D46C8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l-SI" dirty="0"/>
              <a:t>NIVO REAKCIJ</a:t>
            </a:r>
          </a:p>
        </p:txBody>
      </p:sp>
    </p:spTree>
    <p:extLst>
      <p:ext uri="{BB962C8B-B14F-4D97-AF65-F5344CB8AC3E}">
        <p14:creationId xmlns:p14="http://schemas.microsoft.com/office/powerpoint/2010/main" val="3373877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67FBD-655C-3391-3837-D8C5742B9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147" y="857027"/>
            <a:ext cx="2505191" cy="5226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4D6D66-D864-BE37-AECB-A2ED831F0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314" y="1730445"/>
            <a:ext cx="2425678" cy="26626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61B313-B2FF-91E8-694F-3F7CB1FC83D6}"/>
              </a:ext>
            </a:extLst>
          </p:cNvPr>
          <p:cNvSpPr txBox="1"/>
          <p:nvPr/>
        </p:nvSpPr>
        <p:spPr>
          <a:xfrm>
            <a:off x="5963479" y="6308209"/>
            <a:ext cx="178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Lambda.min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D0959-6B7D-CEED-3169-50CD4B70524B}"/>
              </a:ext>
            </a:extLst>
          </p:cNvPr>
          <p:cNvSpPr txBox="1"/>
          <p:nvPr/>
        </p:nvSpPr>
        <p:spPr>
          <a:xfrm>
            <a:off x="2020957" y="4638261"/>
            <a:ext cx="1570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Lambda.1se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7CA426-D95B-61D2-FD47-C4A07DA783D1}"/>
              </a:ext>
            </a:extLst>
          </p:cNvPr>
          <p:cNvCxnSpPr/>
          <p:nvPr/>
        </p:nvCxnSpPr>
        <p:spPr>
          <a:xfrm flipV="1">
            <a:off x="3756992" y="1424609"/>
            <a:ext cx="1782417" cy="834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10E794-1A52-84B8-6A21-B45E62B044B0}"/>
              </a:ext>
            </a:extLst>
          </p:cNvPr>
          <p:cNvCxnSpPr/>
          <p:nvPr/>
        </p:nvCxnSpPr>
        <p:spPr>
          <a:xfrm flipV="1">
            <a:off x="3673305" y="2128863"/>
            <a:ext cx="1782417" cy="510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1B34172-03B4-3BC2-3F12-75DCCE2C2ED6}"/>
              </a:ext>
            </a:extLst>
          </p:cNvPr>
          <p:cNvCxnSpPr>
            <a:cxnSpLocks/>
          </p:cNvCxnSpPr>
          <p:nvPr/>
        </p:nvCxnSpPr>
        <p:spPr>
          <a:xfrm>
            <a:off x="3707561" y="2910721"/>
            <a:ext cx="1709000" cy="559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348CBD-D905-0642-4786-4847EFC52FE5}"/>
              </a:ext>
            </a:extLst>
          </p:cNvPr>
          <p:cNvCxnSpPr/>
          <p:nvPr/>
        </p:nvCxnSpPr>
        <p:spPr>
          <a:xfrm>
            <a:off x="3664226" y="3243380"/>
            <a:ext cx="1722252" cy="960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5AA7FA-2D6C-833A-3EB0-313EB2E6BF28}"/>
              </a:ext>
            </a:extLst>
          </p:cNvPr>
          <p:cNvCxnSpPr>
            <a:cxnSpLocks/>
          </p:cNvCxnSpPr>
          <p:nvPr/>
        </p:nvCxnSpPr>
        <p:spPr>
          <a:xfrm flipV="1">
            <a:off x="3725317" y="2836546"/>
            <a:ext cx="1702904" cy="10203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F32EF3-270A-CEC1-D548-D29D81E273ED}"/>
              </a:ext>
            </a:extLst>
          </p:cNvPr>
          <p:cNvCxnSpPr/>
          <p:nvPr/>
        </p:nvCxnSpPr>
        <p:spPr>
          <a:xfrm flipV="1">
            <a:off x="3677478" y="3190461"/>
            <a:ext cx="1769165" cy="1073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FC85912-BAA7-9BBD-2B0A-2F3910F7A4AB}"/>
              </a:ext>
            </a:extLst>
          </p:cNvPr>
          <p:cNvSpPr txBox="1"/>
          <p:nvPr/>
        </p:nvSpPr>
        <p:spPr>
          <a:xfrm>
            <a:off x="94358" y="1443929"/>
            <a:ext cx="249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Seed(123)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3D36B6-FA7E-A92F-D04C-D25F0ED0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21038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5EB5762-F6F7-9A23-CA3E-29F5F241E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30" y="60116"/>
            <a:ext cx="7650927" cy="6444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530E37-B8D5-7700-D716-24C9022E116F}"/>
              </a:ext>
            </a:extLst>
          </p:cNvPr>
          <p:cNvSpPr txBox="1"/>
          <p:nvPr/>
        </p:nvSpPr>
        <p:spPr>
          <a:xfrm>
            <a:off x="203555" y="1094754"/>
            <a:ext cx="193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Random seed</a:t>
            </a:r>
          </a:p>
        </p:txBody>
      </p:sp>
    </p:spTree>
    <p:extLst>
      <p:ext uri="{BB962C8B-B14F-4D97-AF65-F5344CB8AC3E}">
        <p14:creationId xmlns:p14="http://schemas.microsoft.com/office/powerpoint/2010/main" val="421877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7FE02D-0814-EE90-40BD-BEF1F5A6F9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728" y="185364"/>
            <a:ext cx="4268586" cy="63075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E345BF-D20F-6700-9681-AEE8208C910D}"/>
              </a:ext>
            </a:extLst>
          </p:cNvPr>
          <p:cNvSpPr txBox="1"/>
          <p:nvPr/>
        </p:nvSpPr>
        <p:spPr>
          <a:xfrm>
            <a:off x="755374" y="384313"/>
            <a:ext cx="184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100 seeds</a:t>
            </a:r>
          </a:p>
        </p:txBody>
      </p:sp>
    </p:spTree>
    <p:extLst>
      <p:ext uri="{BB962C8B-B14F-4D97-AF65-F5344CB8AC3E}">
        <p14:creationId xmlns:p14="http://schemas.microsoft.com/office/powerpoint/2010/main" val="2664801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036207-2B4A-F4E1-2A03-1F925BEBCF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504" y="450789"/>
            <a:ext cx="8238218" cy="54594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393938-AF06-71C7-D9F9-C67A3A31A48A}"/>
              </a:ext>
            </a:extLst>
          </p:cNvPr>
          <p:cNvSpPr/>
          <p:nvPr/>
        </p:nvSpPr>
        <p:spPr>
          <a:xfrm>
            <a:off x="1497496" y="815009"/>
            <a:ext cx="8242852" cy="16300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>
              <a:noFill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6862AC-8D26-407F-105C-E69D4573C919}"/>
              </a:ext>
            </a:extLst>
          </p:cNvPr>
          <p:cNvSpPr txBox="1"/>
          <p:nvPr/>
        </p:nvSpPr>
        <p:spPr>
          <a:xfrm>
            <a:off x="192156" y="318052"/>
            <a:ext cx="184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100 seeds</a:t>
            </a:r>
          </a:p>
        </p:txBody>
      </p:sp>
    </p:spTree>
    <p:extLst>
      <p:ext uri="{BB962C8B-B14F-4D97-AF65-F5344CB8AC3E}">
        <p14:creationId xmlns:p14="http://schemas.microsoft.com/office/powerpoint/2010/main" val="3318957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4219D-1239-4BAD-2FA5-29B66A671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156" y="76385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sl-SI" sz="1800" dirty="0"/>
              <a:t>MAR06022 – transportna reakcija</a:t>
            </a:r>
          </a:p>
          <a:p>
            <a:endParaRPr lang="sl-SI" sz="1800" dirty="0"/>
          </a:p>
          <a:p>
            <a:pPr marL="0" indent="0">
              <a:buNone/>
            </a:pPr>
            <a:endParaRPr lang="sl-SI" sz="1800" dirty="0"/>
          </a:p>
          <a:p>
            <a:endParaRPr lang="sl-SI" sz="1800" dirty="0"/>
          </a:p>
          <a:p>
            <a:r>
              <a:rPr lang="sl-SI" sz="1800" dirty="0"/>
              <a:t>MAR04116 – glutathione metabolism</a:t>
            </a:r>
          </a:p>
          <a:p>
            <a:endParaRPr lang="sl-SI" sz="1800" dirty="0"/>
          </a:p>
          <a:p>
            <a:endParaRPr lang="sl-SI" sz="1800" dirty="0"/>
          </a:p>
          <a:p>
            <a:endParaRPr lang="sl-SI" sz="1800" dirty="0"/>
          </a:p>
          <a:p>
            <a:endParaRPr lang="sl-SI" sz="1800" dirty="0"/>
          </a:p>
          <a:p>
            <a:endParaRPr lang="sl-SI" sz="1800" dirty="0"/>
          </a:p>
          <a:p>
            <a:r>
              <a:rPr lang="sl-SI" sz="1800" dirty="0"/>
              <a:t>MAR06621 – pyrimidine metabolism</a:t>
            </a:r>
          </a:p>
          <a:p>
            <a:endParaRPr lang="sl-SI" sz="1800" dirty="0"/>
          </a:p>
          <a:p>
            <a:r>
              <a:rPr lang="sl-SI" sz="1800" dirty="0"/>
              <a:t>MAR00923 – beta oxidation of long chaing fatty acids/fatty acid oxidation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F144DA-6134-B4A2-A531-810E899EA3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8" y="1336754"/>
            <a:ext cx="6566547" cy="5269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08612C-9AC8-A9BD-E443-10153652AD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199" y="4376531"/>
            <a:ext cx="11628796" cy="311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FA959D-EFCB-401A-6E89-9016455530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199" y="5320170"/>
            <a:ext cx="12424398" cy="2010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01247F-F1D5-F14C-C3A0-2BC2AA40CF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227" y="2464251"/>
            <a:ext cx="9142669" cy="3542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A4C5CD-DBD4-3388-3C63-FC8E7CEA2855}"/>
              </a:ext>
            </a:extLst>
          </p:cNvPr>
          <p:cNvSpPr txBox="1"/>
          <p:nvPr/>
        </p:nvSpPr>
        <p:spPr>
          <a:xfrm>
            <a:off x="4730800" y="4040487"/>
            <a:ext cx="334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AUC=0,77, log2FC=1,06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06341B-45D1-B07E-28E2-A65FBBFD2AAA}"/>
              </a:ext>
            </a:extLst>
          </p:cNvPr>
          <p:cNvSpPr txBox="1"/>
          <p:nvPr/>
        </p:nvSpPr>
        <p:spPr>
          <a:xfrm>
            <a:off x="4730799" y="2061434"/>
            <a:ext cx="3184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AUC=0,81, log2FC=1,59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3FE7C7-8B8A-1A91-E5D1-67117FB2A4E8}"/>
              </a:ext>
            </a:extLst>
          </p:cNvPr>
          <p:cNvSpPr txBox="1"/>
          <p:nvPr/>
        </p:nvSpPr>
        <p:spPr>
          <a:xfrm>
            <a:off x="4180107" y="691035"/>
            <a:ext cx="3435138" cy="367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AUC=0,84, log2FC=1,6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2C86A5-59A0-9821-8769-F5378FCDFBD8}"/>
              </a:ext>
            </a:extLst>
          </p:cNvPr>
          <p:cNvSpPr txBox="1"/>
          <p:nvPr/>
        </p:nvSpPr>
        <p:spPr>
          <a:xfrm>
            <a:off x="7720049" y="4745863"/>
            <a:ext cx="2966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AUC=0,8, log2FC=2,73</a:t>
            </a:r>
          </a:p>
        </p:txBody>
      </p:sp>
    </p:spTree>
    <p:extLst>
      <p:ext uri="{BB962C8B-B14F-4D97-AF65-F5344CB8AC3E}">
        <p14:creationId xmlns:p14="http://schemas.microsoft.com/office/powerpoint/2010/main" val="3093558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DAF3FA-584C-2C51-EF47-C681FAD89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8" y="833316"/>
            <a:ext cx="5845806" cy="5859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8255BD-BACF-DA6A-6D01-58C4ACCF5E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754" y="833316"/>
            <a:ext cx="5898398" cy="58590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3B93EC-3B20-E366-08C6-92A2E987453E}"/>
              </a:ext>
            </a:extLst>
          </p:cNvPr>
          <p:cNvSpPr txBox="1"/>
          <p:nvPr/>
        </p:nvSpPr>
        <p:spPr>
          <a:xfrm>
            <a:off x="868017" y="198783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Reakcije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E72424-E852-7657-8CF8-6FD2DB5E2018}"/>
              </a:ext>
            </a:extLst>
          </p:cNvPr>
          <p:cNvSpPr txBox="1"/>
          <p:nvPr/>
        </p:nvSpPr>
        <p:spPr>
          <a:xfrm>
            <a:off x="6096000" y="198783"/>
            <a:ext cx="38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Geni</a:t>
            </a:r>
          </a:p>
        </p:txBody>
      </p:sp>
    </p:spTree>
    <p:extLst>
      <p:ext uri="{BB962C8B-B14F-4D97-AF65-F5344CB8AC3E}">
        <p14:creationId xmlns:p14="http://schemas.microsoft.com/office/powerpoint/2010/main" val="52367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5200-F095-B513-B0E3-A09ACD097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Kombinacija reakcij in genov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B04DC-8A43-AC1E-1C3A-46D3FB70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5119" cy="4351338"/>
          </a:xfrm>
        </p:spPr>
        <p:txBody>
          <a:bodyPr/>
          <a:lstStyle/>
          <a:p>
            <a:r>
              <a:rPr lang="sl-SI" dirty="0"/>
              <a:t>Uporaba tistih top 4 reakcij in top 3 genov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33A32-27FE-62E9-0CC1-AF255261B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514" y="1224756"/>
            <a:ext cx="6581775" cy="5553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13D8F-393E-A39C-4E82-C42DB73CCC43}"/>
              </a:ext>
            </a:extLst>
          </p:cNvPr>
          <p:cNvSpPr txBox="1"/>
          <p:nvPr/>
        </p:nvSpPr>
        <p:spPr>
          <a:xfrm>
            <a:off x="3268639" y="6176963"/>
            <a:ext cx="193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/>
              <a:t>Random seed</a:t>
            </a:r>
          </a:p>
        </p:txBody>
      </p:sp>
    </p:spTree>
    <p:extLst>
      <p:ext uri="{BB962C8B-B14F-4D97-AF65-F5344CB8AC3E}">
        <p14:creationId xmlns:p14="http://schemas.microsoft.com/office/powerpoint/2010/main" val="3666548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F20462-427C-CFCC-59D1-7C6A7D726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10" y="1109417"/>
            <a:ext cx="10822329" cy="11107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91385E-6DC6-B0B4-30E1-D2DA094A9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60" y="2488726"/>
            <a:ext cx="10992678" cy="1095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A737A6-7ED2-ED20-A2C8-4B1ACAFBF8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09" y="3821510"/>
            <a:ext cx="10822329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13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03A7-775E-6FE7-8EFF-833A24AD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BE2-544D-E95B-FEDB-F57694CAA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Naredi logistično regresijo, da se ML sam odloči katere gene/reakcije bo izbral namesto top</a:t>
            </a:r>
          </a:p>
          <a:p>
            <a:r>
              <a:rPr lang="sl-SI" dirty="0"/>
              <a:t>Pol pa vzameš vse te reakcije, da na vseh 52 parih preveri (testiranje)</a:t>
            </a:r>
          </a:p>
        </p:txBody>
      </p:sp>
    </p:spTree>
    <p:extLst>
      <p:ext uri="{BB962C8B-B14F-4D97-AF65-F5344CB8AC3E}">
        <p14:creationId xmlns:p14="http://schemas.microsoft.com/office/powerpoint/2010/main" val="45609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</TotalTime>
  <Words>412</Words>
  <Application>Microsoft Office PowerPoint</Application>
  <PresentationFormat>Widescreen</PresentationFormat>
  <Paragraphs>67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REZULTATI ML</vt:lpstr>
      <vt:lpstr>LASSO LOGISTIČNA REGRESIJA</vt:lpstr>
      <vt:lpstr>NIVO GENOV</vt:lpstr>
      <vt:lpstr>PowerPoint Presentation</vt:lpstr>
      <vt:lpstr>PowerPoint Presentation</vt:lpstr>
      <vt:lpstr>100 seeds</vt:lpstr>
      <vt:lpstr>PowerPoint Presentation</vt:lpstr>
      <vt:lpstr>ENSG00000170786, epidermalna retinol dehidrogenaza 2 </vt:lpstr>
      <vt:lpstr>ENSG00000138772, aneksin A3 </vt:lpstr>
      <vt:lpstr>ENSG00000117394, pospešeni glukozni transporter 1 </vt:lpstr>
      <vt:lpstr>NIVO REAKCIJ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Kombinacija reakcij in genov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Veler, Jakob Urh</dc:creator>
  <cp:lastModifiedBy>Veler, Jakob Urh</cp:lastModifiedBy>
  <cp:revision>10</cp:revision>
  <dcterms:created xsi:type="dcterms:W3CDTF">2026-04-07T12:09:20Z</dcterms:created>
  <dcterms:modified xsi:type="dcterms:W3CDTF">2026-07-13T20:10:51Z</dcterms:modified>
</cp:coreProperties>
</file>