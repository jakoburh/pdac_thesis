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8"/>
  </p:notesMasterIdLst>
  <p:sldIdLst>
    <p:sldId id="256" r:id="rId2"/>
    <p:sldId id="257" r:id="rId3"/>
    <p:sldId id="265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6" r:id="rId12"/>
    <p:sldId id="267" r:id="rId13"/>
    <p:sldId id="268" r:id="rId14"/>
    <p:sldId id="269" r:id="rId15"/>
    <p:sldId id="270" r:id="rId16"/>
    <p:sldId id="271" r:id="rId17"/>
    <p:sldId id="273" r:id="rId18"/>
    <p:sldId id="272" r:id="rId19"/>
    <p:sldId id="274" r:id="rId20"/>
    <p:sldId id="275" r:id="rId21"/>
    <p:sldId id="280" r:id="rId22"/>
    <p:sldId id="276" r:id="rId23"/>
    <p:sldId id="279" r:id="rId24"/>
    <p:sldId id="277" r:id="rId25"/>
    <p:sldId id="281" r:id="rId26"/>
    <p:sldId id="278" r:id="rId27"/>
    <p:sldId id="282" r:id="rId28"/>
    <p:sldId id="283" r:id="rId29"/>
    <p:sldId id="284" r:id="rId30"/>
    <p:sldId id="287" r:id="rId31"/>
    <p:sldId id="286" r:id="rId32"/>
    <p:sldId id="288" r:id="rId33"/>
    <p:sldId id="289" r:id="rId34"/>
    <p:sldId id="290" r:id="rId35"/>
    <p:sldId id="292" r:id="rId36"/>
    <p:sldId id="291" r:id="rId37"/>
  </p:sldIdLst>
  <p:sldSz cx="12192000" cy="6858000"/>
  <p:notesSz cx="6858000" cy="9144000"/>
  <p:defaultTextStyle>
    <a:defPPr>
      <a:defRPr lang="sl-SI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6EA7E0"/>
    <a:srgbClr val="2772B7"/>
    <a:srgbClr val="E0E0E0"/>
    <a:srgbClr val="B2B2B2"/>
    <a:srgbClr val="C0C0C0"/>
    <a:srgbClr val="F1858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0000" autoAdjust="0"/>
    <p:restoredTop sz="94660"/>
  </p:normalViewPr>
  <p:slideViewPr>
    <p:cSldViewPr snapToGrid="0">
      <p:cViewPr>
        <p:scale>
          <a:sx n="75" d="100"/>
          <a:sy n="75" d="100"/>
        </p:scale>
        <p:origin x="1156" y="3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presProps" Target="presProp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notesMaster" Target="notesMasters/notesMaster1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Nitro%2017\Desktop\diplomska%20naloga\Jakobb\tpm\top10_podsistemi_gene_auc_log2.csv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Nitro%2017\Desktop\diplomska%20naloga\Jakobb\tpm\top10_podsistemi_gene_auc.csv" TargetMode="External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[top10_podsistemi_gene_auc_log2.csv]top10_podsistemi_gene_auc_log2!PivotTable1</c:name>
    <c:fmtId val="5"/>
  </c:pivotSource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sl-SI" dirty="0"/>
              <a:t>Top 100 genes</a:t>
            </a:r>
            <a:endParaRPr lang="en-US" dirty="0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ivotFmts>
      <c:pivotFmt>
        <c:idx val="0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sl-SI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sl-SI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sl-SI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top10_podsistemi_gene_auc_log2!$I$3</c:f>
              <c:strCache>
                <c:ptCount val="1"/>
                <c:pt idx="0">
                  <c:v>Total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top10_podsistemi_gene_auc_log2!$H$4:$H$13</c:f>
              <c:strCache>
                <c:ptCount val="9"/>
                <c:pt idx="0">
                  <c:v>Acylglycerides metabolism</c:v>
                </c:pt>
                <c:pt idx="1">
                  <c:v>Ascorbate and aldarate metabolism</c:v>
                </c:pt>
                <c:pt idx="2">
                  <c:v>Miscellaneous</c:v>
                </c:pt>
                <c:pt idx="3">
                  <c:v>Protein assembly</c:v>
                </c:pt>
                <c:pt idx="4">
                  <c:v>Protein degradation</c:v>
                </c:pt>
                <c:pt idx="5">
                  <c:v>Protein modification</c:v>
                </c:pt>
                <c:pt idx="6">
                  <c:v>Retinol metabolism</c:v>
                </c:pt>
                <c:pt idx="7">
                  <c:v>Starch and sucrose metabolism</c:v>
                </c:pt>
                <c:pt idx="8">
                  <c:v>Vitamin A metabolism</c:v>
                </c:pt>
              </c:strCache>
            </c:strRef>
          </c:cat>
          <c:val>
            <c:numRef>
              <c:f>top10_podsistemi_gene_auc_log2!$I$4:$I$13</c:f>
              <c:numCache>
                <c:formatCode>General</c:formatCode>
                <c:ptCount val="9"/>
                <c:pt idx="0">
                  <c:v>9</c:v>
                </c:pt>
                <c:pt idx="1">
                  <c:v>1</c:v>
                </c:pt>
                <c:pt idx="2">
                  <c:v>30</c:v>
                </c:pt>
                <c:pt idx="3">
                  <c:v>3</c:v>
                </c:pt>
                <c:pt idx="4">
                  <c:v>11</c:v>
                </c:pt>
                <c:pt idx="5">
                  <c:v>3</c:v>
                </c:pt>
                <c:pt idx="6">
                  <c:v>29</c:v>
                </c:pt>
                <c:pt idx="7">
                  <c:v>8</c:v>
                </c:pt>
                <c:pt idx="8">
                  <c:v>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D436-4EC4-890E-091C286503E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702571504"/>
        <c:axId val="702555184"/>
      </c:barChart>
      <c:catAx>
        <c:axId val="702571504"/>
        <c:scaling>
          <c:orientation val="minMax"/>
        </c:scaling>
        <c:delete val="0"/>
        <c:axPos val="b"/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sl-SI" dirty="0"/>
                  <a:t>Subsystem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sl-SI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sl-SI"/>
          </a:p>
        </c:txPr>
        <c:crossAx val="702555184"/>
        <c:crosses val="autoZero"/>
        <c:auto val="1"/>
        <c:lblAlgn val="ctr"/>
        <c:lblOffset val="100"/>
        <c:noMultiLvlLbl val="0"/>
      </c:catAx>
      <c:valAx>
        <c:axId val="702555184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sl-SI" dirty="0"/>
                  <a:t>Number of genes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sl-SI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sl-SI"/>
          </a:p>
        </c:txPr>
        <c:crossAx val="70257150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sl-SI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Visible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[top10_podsistemi_gene_auc.csv]top10_podsistemi_gene_auc!PivotTable3</c:name>
    <c:fmtId val="4"/>
  </c:pivotSource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sl-SI"/>
              <a:t>Top 100 genes</a:t>
            </a:r>
            <a:endParaRPr lang="en-US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ivotFmts>
      <c:pivotFmt>
        <c:idx val="0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sl-SI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sl-SI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sl-SI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top10_podsistemi_gene_auc!$L$85</c:f>
              <c:strCache>
                <c:ptCount val="1"/>
                <c:pt idx="0">
                  <c:v>Total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top10_podsistemi_gene_auc!$K$86:$K$95</c:f>
              <c:strCache>
                <c:ptCount val="9"/>
                <c:pt idx="0">
                  <c:v>Acylglycerides metabolism</c:v>
                </c:pt>
                <c:pt idx="1">
                  <c:v>Ascorbate and aldarate metabolism</c:v>
                </c:pt>
                <c:pt idx="2">
                  <c:v>Cholesterol metabolism</c:v>
                </c:pt>
                <c:pt idx="3">
                  <c:v>Ether lipid metabolism</c:v>
                </c:pt>
                <c:pt idx="4">
                  <c:v>Glycerolipid metabolism</c:v>
                </c:pt>
                <c:pt idx="5">
                  <c:v>Miscellaneous</c:v>
                </c:pt>
                <c:pt idx="6">
                  <c:v>Oxidative phosphorylation</c:v>
                </c:pt>
                <c:pt idx="7">
                  <c:v>Retinol metabolism</c:v>
                </c:pt>
                <c:pt idx="8">
                  <c:v>Starch and sucrose metabolism</c:v>
                </c:pt>
              </c:strCache>
            </c:strRef>
          </c:cat>
          <c:val>
            <c:numRef>
              <c:f>top10_podsistemi_gene_auc!$L$86:$L$95</c:f>
              <c:numCache>
                <c:formatCode>General</c:formatCode>
                <c:ptCount val="9"/>
                <c:pt idx="0">
                  <c:v>7</c:v>
                </c:pt>
                <c:pt idx="1">
                  <c:v>1</c:v>
                </c:pt>
                <c:pt idx="2">
                  <c:v>7</c:v>
                </c:pt>
                <c:pt idx="3">
                  <c:v>9</c:v>
                </c:pt>
                <c:pt idx="4">
                  <c:v>9</c:v>
                </c:pt>
                <c:pt idx="5">
                  <c:v>20</c:v>
                </c:pt>
                <c:pt idx="6">
                  <c:v>20</c:v>
                </c:pt>
                <c:pt idx="7">
                  <c:v>22</c:v>
                </c:pt>
                <c:pt idx="8">
                  <c:v>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2F90-47E3-A386-D3543EAE610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702567664"/>
        <c:axId val="702584464"/>
      </c:barChart>
      <c:catAx>
        <c:axId val="702567664"/>
        <c:scaling>
          <c:orientation val="minMax"/>
        </c:scaling>
        <c:delete val="0"/>
        <c:axPos val="b"/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sl-SI"/>
                  <a:t>Subsystems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sl-SI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sl-SI"/>
          </a:p>
        </c:txPr>
        <c:crossAx val="702584464"/>
        <c:crosses val="autoZero"/>
        <c:auto val="1"/>
        <c:lblAlgn val="ctr"/>
        <c:lblOffset val="100"/>
        <c:noMultiLvlLbl val="0"/>
      </c:catAx>
      <c:valAx>
        <c:axId val="702584464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sl-SI"/>
                  <a:t>Number</a:t>
                </a:r>
                <a:r>
                  <a:rPr lang="sl-SI" baseline="0"/>
                  <a:t> of genes</a:t>
                </a:r>
                <a:endParaRPr lang="sl-SI"/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sl-SI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sl-SI"/>
          </a:p>
        </c:txPr>
        <c:crossAx val="70256766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sl-SI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Visible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sl-SI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0ADE4E4-FBDE-46E4-AFD8-C234B522CED6}" type="datetimeFigureOut">
              <a:rPr lang="sl-SI" smtClean="0"/>
              <a:t>14. 08. 2026</a:t>
            </a:fld>
            <a:endParaRPr lang="sl-SI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sl-SI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sl-SI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sl-SI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4BC3A8C-7899-48A6-9D80-C12D8D45BBF1}" type="slidenum">
              <a:rPr lang="sl-SI" smtClean="0"/>
              <a:t>‹#›</a:t>
            </a:fld>
            <a:endParaRPr lang="sl-SI"/>
          </a:p>
        </p:txBody>
      </p:sp>
    </p:spTree>
    <p:extLst>
      <p:ext uri="{BB962C8B-B14F-4D97-AF65-F5344CB8AC3E}">
        <p14:creationId xmlns:p14="http://schemas.microsoft.com/office/powerpoint/2010/main" val="227319233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sl-SI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4BC3A8C-7899-48A6-9D80-C12D8D45BBF1}" type="slidenum">
              <a:rPr lang="sl-SI" smtClean="0"/>
              <a:t>7</a:t>
            </a:fld>
            <a:endParaRPr lang="sl-SI"/>
          </a:p>
        </p:txBody>
      </p:sp>
    </p:spTree>
    <p:extLst>
      <p:ext uri="{BB962C8B-B14F-4D97-AF65-F5344CB8AC3E}">
        <p14:creationId xmlns:p14="http://schemas.microsoft.com/office/powerpoint/2010/main" val="351979442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sl-SI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4BC3A8C-7899-48A6-9D80-C12D8D45BBF1}" type="slidenum">
              <a:rPr lang="sl-SI" smtClean="0"/>
              <a:t>36</a:t>
            </a:fld>
            <a:endParaRPr lang="sl-SI"/>
          </a:p>
        </p:txBody>
      </p:sp>
    </p:spTree>
    <p:extLst>
      <p:ext uri="{BB962C8B-B14F-4D97-AF65-F5344CB8AC3E}">
        <p14:creationId xmlns:p14="http://schemas.microsoft.com/office/powerpoint/2010/main" val="126248581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B3B631-9911-782B-83C6-6DA314F4AD5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sl-SI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4BABA7F-AB7D-34CE-31C0-2CEB83CEFC9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sl-SI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FEC7983-A541-B124-F928-C0A9A78486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FB1505-436B-45D0-BF3F-99B536F32F88}" type="datetimeFigureOut">
              <a:rPr lang="sl-SI" smtClean="0"/>
              <a:t>14. 08. 2026</a:t>
            </a:fld>
            <a:endParaRPr lang="sl-SI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E2E8709-D765-6B75-9C64-25C0C1E999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l-SI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541A723-E13E-0391-74B1-A114155A0A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57EADB-2080-4D2D-933B-2B73132A52F4}" type="slidenum">
              <a:rPr lang="sl-SI" smtClean="0"/>
              <a:t>‹#›</a:t>
            </a:fld>
            <a:endParaRPr lang="sl-SI"/>
          </a:p>
        </p:txBody>
      </p:sp>
    </p:spTree>
    <p:extLst>
      <p:ext uri="{BB962C8B-B14F-4D97-AF65-F5344CB8AC3E}">
        <p14:creationId xmlns:p14="http://schemas.microsoft.com/office/powerpoint/2010/main" val="100355801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ED3E5A-F01C-98E1-8C19-0CBF897222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sl-SI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CDE3A8-AF17-F43C-56B2-E66986A76D2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sl-SI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2AB259F-27BA-3FB4-4FF0-5D681C31CC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FB1505-436B-45D0-BF3F-99B536F32F88}" type="datetimeFigureOut">
              <a:rPr lang="sl-SI" smtClean="0"/>
              <a:t>14. 08. 2026</a:t>
            </a:fld>
            <a:endParaRPr lang="sl-SI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A6B3CCB-27CF-97DA-78C6-ABFF734CD8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l-SI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1BDB5C7-54C1-EEBE-9FCD-6B500AAECA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57EADB-2080-4D2D-933B-2B73132A52F4}" type="slidenum">
              <a:rPr lang="sl-SI" smtClean="0"/>
              <a:t>‹#›</a:t>
            </a:fld>
            <a:endParaRPr lang="sl-SI"/>
          </a:p>
        </p:txBody>
      </p:sp>
    </p:spTree>
    <p:extLst>
      <p:ext uri="{BB962C8B-B14F-4D97-AF65-F5344CB8AC3E}">
        <p14:creationId xmlns:p14="http://schemas.microsoft.com/office/powerpoint/2010/main" val="269165528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06964C-3FAA-45AD-69E8-0EEEF33C4E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sl-SI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4181F6C-C54C-56C1-DEB4-C368DCEA3F3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C73D166-4FCE-5DE6-7DFC-59512790D0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FB1505-436B-45D0-BF3F-99B536F32F88}" type="datetimeFigureOut">
              <a:rPr lang="sl-SI" smtClean="0"/>
              <a:t>14. 08. 2026</a:t>
            </a:fld>
            <a:endParaRPr lang="sl-SI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3FEE0E1-B233-2CF9-B985-2750801286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l-SI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B118C57-CDD1-6920-B9C1-76ED663E69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57EADB-2080-4D2D-933B-2B73132A52F4}" type="slidenum">
              <a:rPr lang="sl-SI" smtClean="0"/>
              <a:t>‹#›</a:t>
            </a:fld>
            <a:endParaRPr lang="sl-SI"/>
          </a:p>
        </p:txBody>
      </p:sp>
    </p:spTree>
    <p:extLst>
      <p:ext uri="{BB962C8B-B14F-4D97-AF65-F5344CB8AC3E}">
        <p14:creationId xmlns:p14="http://schemas.microsoft.com/office/powerpoint/2010/main" val="42474782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F33982-30E7-C4F0-BBD0-D0145D92A0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sl-SI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8B8AA6E-4495-F9C7-D396-E5751EBEC2A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sl-SI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F682D49-0A68-1D85-BC28-DB66B133629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sl-SI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F4832E4-842C-2688-605F-6277110741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FB1505-436B-45D0-BF3F-99B536F32F88}" type="datetimeFigureOut">
              <a:rPr lang="sl-SI" smtClean="0"/>
              <a:t>14. 08. 2026</a:t>
            </a:fld>
            <a:endParaRPr lang="sl-SI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BE33754-4F24-B7F0-D085-CB65E5A5E7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l-SI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7ECCD2D-A035-0590-AC5E-6B978CF4F2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57EADB-2080-4D2D-933B-2B73132A52F4}" type="slidenum">
              <a:rPr lang="sl-SI" smtClean="0"/>
              <a:t>‹#›</a:t>
            </a:fld>
            <a:endParaRPr lang="sl-SI"/>
          </a:p>
        </p:txBody>
      </p:sp>
    </p:spTree>
    <p:extLst>
      <p:ext uri="{BB962C8B-B14F-4D97-AF65-F5344CB8AC3E}">
        <p14:creationId xmlns:p14="http://schemas.microsoft.com/office/powerpoint/2010/main" val="241962275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ECC416-9423-626C-185A-779EED5D0C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sl-SI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35BDF06-1B38-D97D-6376-1C93B388588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F5BD0CA-D97A-9F58-EBE4-D4846349D10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sl-SI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06B003E-1879-F09E-84C6-971B3E00610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AD4E33C-B7BF-A4C5-ADB0-DF020951B8D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sl-SI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144DBE0-FB68-893E-6541-BFA650A217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FB1505-436B-45D0-BF3F-99B536F32F88}" type="datetimeFigureOut">
              <a:rPr lang="sl-SI" smtClean="0"/>
              <a:t>14. 08. 2026</a:t>
            </a:fld>
            <a:endParaRPr lang="sl-SI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69B24CB-03BC-E082-3E6C-4C1FA13649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l-SI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6BA5BC8-54A1-B5B8-F81F-C30A917F86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57EADB-2080-4D2D-933B-2B73132A52F4}" type="slidenum">
              <a:rPr lang="sl-SI" smtClean="0"/>
              <a:t>‹#›</a:t>
            </a:fld>
            <a:endParaRPr lang="sl-SI"/>
          </a:p>
        </p:txBody>
      </p:sp>
    </p:spTree>
    <p:extLst>
      <p:ext uri="{BB962C8B-B14F-4D97-AF65-F5344CB8AC3E}">
        <p14:creationId xmlns:p14="http://schemas.microsoft.com/office/powerpoint/2010/main" val="357557144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D07AA6-6BBF-202E-F0EE-79AD90FB16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sl-SI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4AAA355-9AD6-71C1-C279-EE9AAAC11E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FB1505-436B-45D0-BF3F-99B536F32F88}" type="datetimeFigureOut">
              <a:rPr lang="sl-SI" smtClean="0"/>
              <a:t>14. 08. 2026</a:t>
            </a:fld>
            <a:endParaRPr lang="sl-SI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E3924D2-9A1B-DD28-B2B6-2188E2621F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l-SI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D54EA45-8E2D-0BA9-C1B5-BF6D3841BD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57EADB-2080-4D2D-933B-2B73132A52F4}" type="slidenum">
              <a:rPr lang="sl-SI" smtClean="0"/>
              <a:t>‹#›</a:t>
            </a:fld>
            <a:endParaRPr lang="sl-SI"/>
          </a:p>
        </p:txBody>
      </p:sp>
    </p:spTree>
    <p:extLst>
      <p:ext uri="{BB962C8B-B14F-4D97-AF65-F5344CB8AC3E}">
        <p14:creationId xmlns:p14="http://schemas.microsoft.com/office/powerpoint/2010/main" val="154692428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20AFE67-DCC4-0A5A-3B38-C8B40BAE1C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FB1505-436B-45D0-BF3F-99B536F32F88}" type="datetimeFigureOut">
              <a:rPr lang="sl-SI" smtClean="0"/>
              <a:t>14. 08. 2026</a:t>
            </a:fld>
            <a:endParaRPr lang="sl-SI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4A77004-3823-6FDC-BA06-5B784E584E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l-SI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EBC37DC-6342-17A8-4DC8-F2435282BE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57EADB-2080-4D2D-933B-2B73132A52F4}" type="slidenum">
              <a:rPr lang="sl-SI" smtClean="0"/>
              <a:t>‹#›</a:t>
            </a:fld>
            <a:endParaRPr lang="sl-SI"/>
          </a:p>
        </p:txBody>
      </p:sp>
    </p:spTree>
    <p:extLst>
      <p:ext uri="{BB962C8B-B14F-4D97-AF65-F5344CB8AC3E}">
        <p14:creationId xmlns:p14="http://schemas.microsoft.com/office/powerpoint/2010/main" val="322100956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22ADDC-0994-D4BC-412F-710043B197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sl-SI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6298482-2165-31F6-E5E2-27481846A3D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sl-SI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43966ED-9171-AA95-557B-D7213458FDA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2DEFDC6-283D-A7C5-C6C6-1993587C01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FB1505-436B-45D0-BF3F-99B536F32F88}" type="datetimeFigureOut">
              <a:rPr lang="sl-SI" smtClean="0"/>
              <a:t>14. 08. 2026</a:t>
            </a:fld>
            <a:endParaRPr lang="sl-SI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049D71F-CD3E-4EB4-58A4-C439575CF4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l-SI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C3871A8-E111-D668-CF86-1E891B73D7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57EADB-2080-4D2D-933B-2B73132A52F4}" type="slidenum">
              <a:rPr lang="sl-SI" smtClean="0"/>
              <a:t>‹#›</a:t>
            </a:fld>
            <a:endParaRPr lang="sl-SI"/>
          </a:p>
        </p:txBody>
      </p:sp>
    </p:spTree>
    <p:extLst>
      <p:ext uri="{BB962C8B-B14F-4D97-AF65-F5344CB8AC3E}">
        <p14:creationId xmlns:p14="http://schemas.microsoft.com/office/powerpoint/2010/main" val="252601272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C89E3B-2C30-FD8C-56C7-007B52D137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sl-SI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CFC0AB1-7B65-8C9E-8E77-1E4F54AF1B6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sl-SI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57E2EC1-4852-B083-0F75-FB962C33A26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AED9F27-8418-8DAB-D197-8FC2E0F3DE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FB1505-436B-45D0-BF3F-99B536F32F88}" type="datetimeFigureOut">
              <a:rPr lang="sl-SI" smtClean="0"/>
              <a:t>14. 08. 2026</a:t>
            </a:fld>
            <a:endParaRPr lang="sl-SI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485622E-4644-6252-1D27-50365F0EE5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l-SI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457F5A4-2ADC-D6F0-804C-7E79D8DDEF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57EADB-2080-4D2D-933B-2B73132A52F4}" type="slidenum">
              <a:rPr lang="sl-SI" smtClean="0"/>
              <a:t>‹#›</a:t>
            </a:fld>
            <a:endParaRPr lang="sl-SI"/>
          </a:p>
        </p:txBody>
      </p:sp>
    </p:spTree>
    <p:extLst>
      <p:ext uri="{BB962C8B-B14F-4D97-AF65-F5344CB8AC3E}">
        <p14:creationId xmlns:p14="http://schemas.microsoft.com/office/powerpoint/2010/main" val="4017570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340879-8D5A-BDAD-AA89-4ABB7168B5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sl-SI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A3607DC-E6C0-B5FB-4715-902701EBC69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sl-SI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9FDF39C-FA79-2495-FFB2-DAD6227490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FB1505-436B-45D0-BF3F-99B536F32F88}" type="datetimeFigureOut">
              <a:rPr lang="sl-SI" smtClean="0"/>
              <a:t>14. 08. 2026</a:t>
            </a:fld>
            <a:endParaRPr lang="sl-SI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5BE6483-51A3-1A28-F7E6-57D8397F0F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l-SI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F08EB5-3F10-D4A1-06BB-5952312671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57EADB-2080-4D2D-933B-2B73132A52F4}" type="slidenum">
              <a:rPr lang="sl-SI" smtClean="0"/>
              <a:t>‹#›</a:t>
            </a:fld>
            <a:endParaRPr lang="sl-SI"/>
          </a:p>
        </p:txBody>
      </p:sp>
    </p:spTree>
    <p:extLst>
      <p:ext uri="{BB962C8B-B14F-4D97-AF65-F5344CB8AC3E}">
        <p14:creationId xmlns:p14="http://schemas.microsoft.com/office/powerpoint/2010/main" val="11421718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A3E0999-E0A8-3A20-C8C5-6E7B100EDFD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sl-SI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21758E5-898D-3067-656B-B86D648EBC4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sl-SI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22ED2F8-319A-69BB-ABFF-7C52E6440F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FB1505-436B-45D0-BF3F-99B536F32F88}" type="datetimeFigureOut">
              <a:rPr lang="sl-SI" smtClean="0"/>
              <a:t>14. 08. 2026</a:t>
            </a:fld>
            <a:endParaRPr lang="sl-SI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FD18C28-A246-56AB-FC0B-C803F874AC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l-SI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40EBBC3-4FEA-2A86-CF9F-C1641D36E5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57EADB-2080-4D2D-933B-2B73132A52F4}" type="slidenum">
              <a:rPr lang="sl-SI" smtClean="0"/>
              <a:t>‹#›</a:t>
            </a:fld>
            <a:endParaRPr lang="sl-SI"/>
          </a:p>
        </p:txBody>
      </p:sp>
    </p:spTree>
    <p:extLst>
      <p:ext uri="{BB962C8B-B14F-4D97-AF65-F5344CB8AC3E}">
        <p14:creationId xmlns:p14="http://schemas.microsoft.com/office/powerpoint/2010/main" val="221241192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59D801A-FE95-C25A-6D02-29F0659021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sl-SI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52B7B71-0799-7B8E-B1DF-1778C6F4216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sl-SI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3BFD7E3-D2E6-952F-F50C-3606C8460AA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CFB1505-436B-45D0-BF3F-99B536F32F88}" type="datetimeFigureOut">
              <a:rPr lang="sl-SI" smtClean="0"/>
              <a:t>14. 08. 2026</a:t>
            </a:fld>
            <a:endParaRPr lang="sl-SI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5F762F6-8D2E-400D-A000-F2DF80999F5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sl-SI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68B517D-CD0C-A207-F378-31800191543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057EADB-2080-4D2D-933B-2B73132A52F4}" type="slidenum">
              <a:rPr lang="sl-SI" smtClean="0"/>
              <a:t>‹#›</a:t>
            </a:fld>
            <a:endParaRPr lang="sl-SI"/>
          </a:p>
        </p:txBody>
      </p:sp>
    </p:spTree>
    <p:extLst>
      <p:ext uri="{BB962C8B-B14F-4D97-AF65-F5344CB8AC3E}">
        <p14:creationId xmlns:p14="http://schemas.microsoft.com/office/powerpoint/2010/main" val="39350659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sl-SI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0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2.png"/><Relationship Id="rId4" Type="http://schemas.openxmlformats.org/officeDocument/2006/relationships/image" Target="../media/image31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9.png"/><Relationship Id="rId4" Type="http://schemas.openxmlformats.org/officeDocument/2006/relationships/image" Target="../media/image38.png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3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8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7.png"/><Relationship Id="rId5" Type="http://schemas.openxmlformats.org/officeDocument/2006/relationships/image" Target="../media/image38.png"/><Relationship Id="rId4" Type="http://schemas.openxmlformats.org/officeDocument/2006/relationships/image" Target="../media/image41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png"/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3439DF-A13F-8AFA-7BA4-D08C40E372F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sl-SI" dirty="0"/>
              <a:t>REZULTATI TPM 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FABDCF4-5225-11E4-D9CF-869DCC7CD9C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sl-SI"/>
          </a:p>
        </p:txBody>
      </p:sp>
    </p:spTree>
    <p:extLst>
      <p:ext uri="{BB962C8B-B14F-4D97-AF65-F5344CB8AC3E}">
        <p14:creationId xmlns:p14="http://schemas.microsoft.com/office/powerpoint/2010/main" val="215974179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2BBC3E-F9D5-E5A2-15D6-9D5702E30B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sl-SI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E64E00-CA78-0FA1-4C5E-9053C28933A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sl-SI" dirty="0"/>
              <a:t>Human1 ima 2887 unikatnih metabolnih genov (v CPTAC-3 jih je 2884)</a:t>
            </a:r>
          </a:p>
          <a:p>
            <a:r>
              <a:rPr lang="sl-SI" dirty="0"/>
              <a:t>CPTAC/PAAC 60 660 transkriptov (večina ni metabolnih), 44 duplikatov v CPTAC</a:t>
            </a:r>
          </a:p>
          <a:p>
            <a:r>
              <a:rPr lang="sl-SI" dirty="0"/>
              <a:t>Imamo 52 parov iz CPTAC</a:t>
            </a:r>
          </a:p>
          <a:p>
            <a:endParaRPr lang="sl-SI" dirty="0"/>
          </a:p>
          <a:p>
            <a:endParaRPr lang="sl-SI" dirty="0"/>
          </a:p>
        </p:txBody>
      </p:sp>
    </p:spTree>
    <p:extLst>
      <p:ext uri="{BB962C8B-B14F-4D97-AF65-F5344CB8AC3E}">
        <p14:creationId xmlns:p14="http://schemas.microsoft.com/office/powerpoint/2010/main" val="145719859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2B353B-874B-B432-1F3B-B54D1007F1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sl-SI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78DFF0F8-6BEA-B4E5-8B7C-5440F04D01E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9339" y="1342727"/>
            <a:ext cx="7730856" cy="5150148"/>
          </a:xfrm>
          <a:prstGeom prst="rect">
            <a:avLst/>
          </a:prstGeom>
          <a:solidFill>
            <a:srgbClr val="C00000"/>
          </a:solidFill>
        </p:spPr>
      </p:pic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140AAA9A-0209-508E-2514-77C386091E35}"/>
              </a:ext>
            </a:extLst>
          </p:cNvPr>
          <p:cNvCxnSpPr>
            <a:cxnSpLocks/>
          </p:cNvCxnSpPr>
          <p:nvPr/>
        </p:nvCxnSpPr>
        <p:spPr>
          <a:xfrm>
            <a:off x="942321" y="2114987"/>
            <a:ext cx="3294632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A9B2EC1A-3A32-0524-7828-428BD536F536}"/>
              </a:ext>
            </a:extLst>
          </p:cNvPr>
          <p:cNvCxnSpPr>
            <a:cxnSpLocks/>
          </p:cNvCxnSpPr>
          <p:nvPr/>
        </p:nvCxnSpPr>
        <p:spPr>
          <a:xfrm>
            <a:off x="942321" y="3223668"/>
            <a:ext cx="3294632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885DE84A-82EF-62AE-1384-6F7A4B3D002B}"/>
              </a:ext>
            </a:extLst>
          </p:cNvPr>
          <p:cNvCxnSpPr>
            <a:cxnSpLocks/>
          </p:cNvCxnSpPr>
          <p:nvPr/>
        </p:nvCxnSpPr>
        <p:spPr>
          <a:xfrm>
            <a:off x="942321" y="4556877"/>
            <a:ext cx="3294632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3B830406-1F75-BA1C-A057-17B98D7E70C3}"/>
              </a:ext>
            </a:extLst>
          </p:cNvPr>
          <p:cNvCxnSpPr>
            <a:cxnSpLocks/>
          </p:cNvCxnSpPr>
          <p:nvPr/>
        </p:nvCxnSpPr>
        <p:spPr>
          <a:xfrm>
            <a:off x="942321" y="6470772"/>
            <a:ext cx="3294632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B83D83D1-014E-59C3-2F26-1A381827680F}"/>
              </a:ext>
            </a:extLst>
          </p:cNvPr>
          <p:cNvSpPr txBox="1"/>
          <p:nvPr/>
        </p:nvSpPr>
        <p:spPr>
          <a:xfrm>
            <a:off x="8774052" y="2638498"/>
            <a:ext cx="318295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sl-SI" dirty="0"/>
              <a:t>Tole sem naključno izbral in videl zanimivo porazdelitev točk. Ampak to ni praktično za vseh 6 916 distanc</a:t>
            </a:r>
          </a:p>
        </p:txBody>
      </p:sp>
    </p:spTree>
    <p:extLst>
      <p:ext uri="{BB962C8B-B14F-4D97-AF65-F5344CB8AC3E}">
        <p14:creationId xmlns:p14="http://schemas.microsoft.com/office/powerpoint/2010/main" val="86010779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AutoShape 2">
            <a:extLst>
              <a:ext uri="{FF2B5EF4-FFF2-40B4-BE49-F238E27FC236}">
                <a16:creationId xmlns:a16="http://schemas.microsoft.com/office/drawing/2014/main" id="{E4A335DA-C7C5-8902-9BD5-F4F8FC03BFBA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sl-SI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268333B-FA7A-5786-94D3-80B9740B130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0949" y="1282411"/>
            <a:ext cx="6409247" cy="4976592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D94C35CD-0F70-13E8-6B5F-2153FA931F6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30196" y="1570432"/>
            <a:ext cx="5667375" cy="4400550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CD1284D1-02F9-BFC2-F02B-07D61E7D6C49}"/>
              </a:ext>
            </a:extLst>
          </p:cNvPr>
          <p:cNvSpPr txBox="1"/>
          <p:nvPr/>
        </p:nvSpPr>
        <p:spPr>
          <a:xfrm>
            <a:off x="750498" y="370936"/>
            <a:ext cx="534550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sl-SI" dirty="0"/>
              <a:t>Ali je ta outlier značilen le za normalne celice?</a:t>
            </a:r>
          </a:p>
        </p:txBody>
      </p:sp>
    </p:spTree>
    <p:extLst>
      <p:ext uri="{BB962C8B-B14F-4D97-AF65-F5344CB8AC3E}">
        <p14:creationId xmlns:p14="http://schemas.microsoft.com/office/powerpoint/2010/main" val="371252362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D7AC602A-BB6F-9825-C488-F2AD97E7740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64538" y="1395346"/>
            <a:ext cx="5962141" cy="4629428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A452EBA3-E692-DBD8-E398-4E600A5236B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26679" y="1395346"/>
            <a:ext cx="5667375" cy="4400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701075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2200F507-4434-9302-3270-16D1A39B159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6655" y="894841"/>
            <a:ext cx="5667375" cy="4400550"/>
          </a:xfrm>
          <a:prstGeom prst="rect">
            <a:avLst/>
          </a:prstGeom>
        </p:spPr>
      </p:pic>
      <p:sp>
        <p:nvSpPr>
          <p:cNvPr id="3" name="AutoShape 2">
            <a:extLst>
              <a:ext uri="{FF2B5EF4-FFF2-40B4-BE49-F238E27FC236}">
                <a16:creationId xmlns:a16="http://schemas.microsoft.com/office/drawing/2014/main" id="{14F27C4F-0FE5-09D4-D02B-1BA3F839951E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sl-SI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FCFF1BB-C763-D12C-E39D-6CC027FC9CF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47540" y="1054221"/>
            <a:ext cx="5667375" cy="440055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796FCB5C-BD7E-5780-D008-C823C009FCE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1351" y="6041105"/>
            <a:ext cx="4772691" cy="523948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67D5B90F-F2A5-37C2-6129-0959266404D2}"/>
              </a:ext>
            </a:extLst>
          </p:cNvPr>
          <p:cNvSpPr txBox="1"/>
          <p:nvPr/>
        </p:nvSpPr>
        <p:spPr>
          <a:xfrm>
            <a:off x="561351" y="5483582"/>
            <a:ext cx="79503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sl-SI" dirty="0"/>
              <a:t>Wilcoxonov test- H</a:t>
            </a:r>
            <a:r>
              <a:rPr lang="sl-SI" sz="1100" dirty="0"/>
              <a:t>0</a:t>
            </a:r>
            <a:r>
              <a:rPr lang="sl-SI" dirty="0"/>
              <a:t>: Porazdelitvi TPM v obeh skupinah sta enaki</a:t>
            </a:r>
          </a:p>
        </p:txBody>
      </p:sp>
    </p:spTree>
    <p:extLst>
      <p:ext uri="{BB962C8B-B14F-4D97-AF65-F5344CB8AC3E}">
        <p14:creationId xmlns:p14="http://schemas.microsoft.com/office/powerpoint/2010/main" val="138725591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3B5C2A-2BCB-DA64-D1F1-520B6E66E6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DE672F38-C0BB-567D-9364-3483C3E2F13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302" y="377146"/>
            <a:ext cx="5667375" cy="440055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FB6F632D-55E0-7067-A7E3-573A2FC92FF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70359" y="467889"/>
            <a:ext cx="5667375" cy="4400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614319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E90892-E961-7176-C022-C1D85CA8EC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49801EC5-CAAB-623C-9110-1E547B7F592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8625" y="921599"/>
            <a:ext cx="5667375" cy="440055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6AE6BC61-3B7E-0E75-719F-6C97CD85B405}"/>
              </a:ext>
            </a:extLst>
          </p:cNvPr>
          <p:cNvSpPr txBox="1"/>
          <p:nvPr/>
        </p:nvSpPr>
        <p:spPr>
          <a:xfrm>
            <a:off x="321089" y="5260891"/>
            <a:ext cx="5570161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Area under the curve: 0.7027</a:t>
            </a:r>
            <a:r>
              <a:rPr lang="sl-SI" dirty="0"/>
              <a:t>-&gt; v 70% primerov lahko na podlagi ENSG00000170835 določimo, če je vzorec tumorski ali normalen</a:t>
            </a:r>
            <a:endParaRPr lang="en-US" dirty="0"/>
          </a:p>
          <a:p>
            <a:endParaRPr lang="sl-SI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153742B-C003-2672-8F30-41B602B7F064}"/>
              </a:ext>
            </a:extLst>
          </p:cNvPr>
          <p:cNvSpPr txBox="1"/>
          <p:nvPr/>
        </p:nvSpPr>
        <p:spPr>
          <a:xfrm>
            <a:off x="6840550" y="1033063"/>
            <a:ext cx="3734381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sl-SI" dirty="0"/>
              <a:t>ENSG00000170835 /  karboksil ester lipaza:</a:t>
            </a:r>
          </a:p>
          <a:p>
            <a:r>
              <a:rPr lang="sl-SI" dirty="0"/>
              <a:t>-uniprot  P19835,</a:t>
            </a:r>
          </a:p>
          <a:p>
            <a:r>
              <a:rPr lang="sl-SI" dirty="0"/>
              <a:t>-hidroliza fosfolipidov, lizofosfolipidov, tracilgliceroloc, holesterol estre…</a:t>
            </a:r>
          </a:p>
          <a:p>
            <a:r>
              <a:rPr lang="sl-SI" dirty="0"/>
              <a:t>-pri tumorskih celicah je manj izražena kot v normalnih. Ampak a lahko rečemo, da je hidroliza lipidov v rakavih celicah manjša? Ni nujno, je treba preveriti s primerjavo fluxov</a:t>
            </a:r>
          </a:p>
          <a:p>
            <a:endParaRPr lang="sl-SI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A79D1EF-3CB5-EE5E-078E-723A64D9B5F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0" y="4537364"/>
            <a:ext cx="6096002" cy="17862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1849004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1FC5D1-8B47-CD08-4A1E-4296A61EA5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02763F96-0748-5165-3D57-B4B9400EFE3C}"/>
              </a:ext>
            </a:extLst>
          </p:cNvPr>
          <p:cNvSpPr txBox="1"/>
          <p:nvPr/>
        </p:nvSpPr>
        <p:spPr>
          <a:xfrm>
            <a:off x="872519" y="390889"/>
            <a:ext cx="9890876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sl-SI" dirty="0"/>
              <a:t>Namesto da naključno ročno izbiram podsisteme pacientov, in upam na visok AUC, sem raje:</a:t>
            </a:r>
          </a:p>
          <a:p>
            <a:r>
              <a:rPr lang="sl-SI" dirty="0"/>
              <a:t>-vzel mediano vseh normaliziranih distanc podsistemov,</a:t>
            </a:r>
          </a:p>
          <a:p>
            <a:r>
              <a:rPr lang="sl-SI" dirty="0"/>
              <a:t>-izbral top 10 podsistemov z največjo mediano,</a:t>
            </a:r>
          </a:p>
          <a:p>
            <a:r>
              <a:rPr lang="sl-SI" dirty="0"/>
              <a:t>-izračunal area under the curve (AUC) vseh genov v teh 10 podsistemih</a:t>
            </a:r>
          </a:p>
          <a:p>
            <a:r>
              <a:rPr lang="sl-SI" dirty="0"/>
              <a:t>-pogledal grafe tistih genov z največjo AUC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0BE3E48-3435-F4D0-C998-0909BDEBFC5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45075" y="1996389"/>
            <a:ext cx="5106113" cy="47917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181219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B93454-6615-F503-3D22-6DFEFD9959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EDCAE87-5A0E-80C5-464B-8BC9B3202CDA}"/>
              </a:ext>
            </a:extLst>
          </p:cNvPr>
          <p:cNvSpPr txBox="1"/>
          <p:nvPr/>
        </p:nvSpPr>
        <p:spPr>
          <a:xfrm>
            <a:off x="565392" y="397869"/>
            <a:ext cx="101718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sl-SI" dirty="0"/>
              <a:t>Oxidative phosphorylation, ENSG00000160471, citokrom C oksidaza podenota 6B2 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C0B3ED5-E400-3E1D-C5D2-A9B815BB49A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2728" y="1663711"/>
            <a:ext cx="5667375" cy="4410075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837F17A7-7433-F9F8-880A-47B6E6D702C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1817274"/>
            <a:ext cx="5667375" cy="44100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4998478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C9D69D95-8067-10C7-0090-B9636A926DB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0993" y="1489208"/>
            <a:ext cx="5667375" cy="4410075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0F7123E6-E9A1-A695-E095-98D2E91FD06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33579" y="1482228"/>
            <a:ext cx="5667375" cy="44100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7708202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147E29F-F77E-8946-F5D6-AE7130F06483}"/>
              </a:ext>
            </a:extLst>
          </p:cNvPr>
          <p:cNvSpPr txBox="1"/>
          <p:nvPr/>
        </p:nvSpPr>
        <p:spPr>
          <a:xfrm>
            <a:off x="893460" y="404849"/>
            <a:ext cx="98140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sl-SI" dirty="0"/>
              <a:t>Izračun AUC za log2(TPM) podatke. 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20D50B4-6850-3E2C-61D0-F1DD1C5E2E5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5815" y="1272340"/>
            <a:ext cx="5134692" cy="4829849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E46C4628-8A70-E683-B3B6-619905AF223D}"/>
              </a:ext>
            </a:extLst>
          </p:cNvPr>
          <p:cNvSpPr txBox="1"/>
          <p:nvPr/>
        </p:nvSpPr>
        <p:spPr>
          <a:xfrm>
            <a:off x="893460" y="6261197"/>
            <a:ext cx="44323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sl-SI" dirty="0"/>
              <a:t>TPM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148F2D61-EF1D-868E-9130-FF75EEC9F5C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79163" y="1272341"/>
            <a:ext cx="5156971" cy="4829849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6A1AB36C-D5E5-155E-CC7F-435D9F2EF495}"/>
              </a:ext>
            </a:extLst>
          </p:cNvPr>
          <p:cNvSpPr txBox="1"/>
          <p:nvPr/>
        </p:nvSpPr>
        <p:spPr>
          <a:xfrm>
            <a:off x="6617185" y="6177435"/>
            <a:ext cx="493496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sl-SI" dirty="0"/>
              <a:t>Log2(TPM)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76F021EC-CC54-C3C0-4BED-48928377A892}"/>
              </a:ext>
            </a:extLst>
          </p:cNvPr>
          <p:cNvCxnSpPr/>
          <p:nvPr/>
        </p:nvCxnSpPr>
        <p:spPr>
          <a:xfrm>
            <a:off x="665815" y="2408153"/>
            <a:ext cx="5134692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CF87BA5E-CD0F-1F20-3E2D-95FE567A395F}"/>
              </a:ext>
            </a:extLst>
          </p:cNvPr>
          <p:cNvCxnSpPr/>
          <p:nvPr/>
        </p:nvCxnSpPr>
        <p:spPr>
          <a:xfrm>
            <a:off x="6301442" y="2169665"/>
            <a:ext cx="5134692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A5BB981B-D2BF-4D21-B9CA-2F9E46DB596F}"/>
              </a:ext>
            </a:extLst>
          </p:cNvPr>
          <p:cNvCxnSpPr/>
          <p:nvPr/>
        </p:nvCxnSpPr>
        <p:spPr>
          <a:xfrm>
            <a:off x="665815" y="2169665"/>
            <a:ext cx="5134692" cy="0"/>
          </a:xfrm>
          <a:prstGeom prst="line">
            <a:avLst/>
          </a:prstGeom>
          <a:ln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50152C2F-CEF0-74E5-202B-361892BB87CD}"/>
              </a:ext>
            </a:extLst>
          </p:cNvPr>
          <p:cNvCxnSpPr/>
          <p:nvPr/>
        </p:nvCxnSpPr>
        <p:spPr>
          <a:xfrm>
            <a:off x="6301442" y="1700832"/>
            <a:ext cx="5134692" cy="0"/>
          </a:xfrm>
          <a:prstGeom prst="line">
            <a:avLst/>
          </a:prstGeom>
          <a:ln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0537555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0920B92-7797-F3B3-B126-B33A669F2B4C}"/>
              </a:ext>
            </a:extLst>
          </p:cNvPr>
          <p:cNvSpPr txBox="1"/>
          <p:nvPr/>
        </p:nvSpPr>
        <p:spPr>
          <a:xfrm>
            <a:off x="530492" y="160543"/>
            <a:ext cx="837618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sl-SI" dirty="0"/>
              <a:t>Prikaz top 100 genov glede na AUC</a:t>
            </a:r>
          </a:p>
        </p:txBody>
      </p:sp>
      <p:graphicFrame>
        <p:nvGraphicFramePr>
          <p:cNvPr id="3" name="Chart 2">
            <a:extLst>
              <a:ext uri="{FF2B5EF4-FFF2-40B4-BE49-F238E27FC236}">
                <a16:creationId xmlns:a16="http://schemas.microsoft.com/office/drawing/2014/main" id="{61B234C1-EFEE-549B-C091-A084C3FFF196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840276340"/>
              </p:ext>
            </p:extLst>
          </p:nvPr>
        </p:nvGraphicFramePr>
        <p:xfrm>
          <a:off x="6096000" y="1404058"/>
          <a:ext cx="5931908" cy="346530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31FD2641-46D6-6C6C-8EA2-3FC2619E93F0}"/>
              </a:ext>
            </a:extLst>
          </p:cNvPr>
          <p:cNvSpPr txBox="1"/>
          <p:nvPr/>
        </p:nvSpPr>
        <p:spPr>
          <a:xfrm>
            <a:off x="8460058" y="5159297"/>
            <a:ext cx="310003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sl-SI" dirty="0"/>
              <a:t>Log2(TPM)</a:t>
            </a:r>
          </a:p>
        </p:txBody>
      </p:sp>
      <p:graphicFrame>
        <p:nvGraphicFramePr>
          <p:cNvPr id="5" name="Chart 4">
            <a:extLst>
              <a:ext uri="{FF2B5EF4-FFF2-40B4-BE49-F238E27FC236}">
                <a16:creationId xmlns:a16="http://schemas.microsoft.com/office/drawing/2014/main" id="{922158DA-DF24-D77A-1CCA-5F71CE2B1D6D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701837028"/>
              </p:ext>
            </p:extLst>
          </p:nvPr>
        </p:nvGraphicFramePr>
        <p:xfrm>
          <a:off x="0" y="1404059"/>
          <a:ext cx="6013954" cy="346530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C12F036F-B21A-EBD5-227E-DAD238756C24}"/>
              </a:ext>
            </a:extLst>
          </p:cNvPr>
          <p:cNvSpPr txBox="1"/>
          <p:nvPr/>
        </p:nvSpPr>
        <p:spPr>
          <a:xfrm>
            <a:off x="1791629" y="5055220"/>
            <a:ext cx="291418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sl-SI" dirty="0"/>
              <a:t>TPM</a:t>
            </a:r>
          </a:p>
        </p:txBody>
      </p:sp>
    </p:spTree>
    <p:extLst>
      <p:ext uri="{BB962C8B-B14F-4D97-AF65-F5344CB8AC3E}">
        <p14:creationId xmlns:p14="http://schemas.microsoft.com/office/powerpoint/2010/main" val="339367044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C89F1BA-1517-38C0-25A3-F87B063F2496}"/>
              </a:ext>
            </a:extLst>
          </p:cNvPr>
          <p:cNvSpPr txBox="1"/>
          <p:nvPr/>
        </p:nvSpPr>
        <p:spPr>
          <a:xfrm>
            <a:off x="364273" y="1077951"/>
            <a:ext cx="5382322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sl-SI" dirty="0"/>
              <a:t>TPM:</a:t>
            </a:r>
          </a:p>
          <a:p>
            <a:pPr marL="285750" indent="-285750">
              <a:buFontTx/>
              <a:buChar char="-"/>
            </a:pPr>
            <a:r>
              <a:rPr lang="sl-SI" dirty="0"/>
              <a:t>548 genov:</a:t>
            </a:r>
          </a:p>
          <a:p>
            <a:r>
              <a:rPr lang="sl-SI" dirty="0"/>
              <a:t>Oxidative phosphorylation</a:t>
            </a:r>
          </a:p>
          <a:p>
            <a:r>
              <a:rPr lang="sl-SI" dirty="0"/>
              <a:t>Glycerolipid metabolism</a:t>
            </a:r>
          </a:p>
          <a:p>
            <a:r>
              <a:rPr lang="sl-SI" dirty="0">
                <a:highlight>
                  <a:srgbClr val="FFFF00"/>
                </a:highlight>
              </a:rPr>
              <a:t>Starch and sucrose metabolism</a:t>
            </a:r>
          </a:p>
          <a:p>
            <a:r>
              <a:rPr lang="sl-SI" dirty="0">
                <a:highlight>
                  <a:srgbClr val="FFFF00"/>
                </a:highlight>
              </a:rPr>
              <a:t>Retinol metabolism</a:t>
            </a:r>
          </a:p>
          <a:p>
            <a:r>
              <a:rPr lang="sl-SI" dirty="0">
                <a:highlight>
                  <a:srgbClr val="00FF00"/>
                </a:highlight>
              </a:rPr>
              <a:t>Miscellaneous</a:t>
            </a:r>
          </a:p>
          <a:p>
            <a:r>
              <a:rPr lang="sl-SI" dirty="0"/>
              <a:t>Ether lipid metabolism</a:t>
            </a:r>
          </a:p>
          <a:p>
            <a:r>
              <a:rPr lang="sl-SI" dirty="0">
                <a:highlight>
                  <a:srgbClr val="FFFF00"/>
                </a:highlight>
              </a:rPr>
              <a:t>Acylglycerides metabolism</a:t>
            </a:r>
          </a:p>
          <a:p>
            <a:r>
              <a:rPr lang="sl-SI" dirty="0"/>
              <a:t>Cholesterol metabolism</a:t>
            </a:r>
          </a:p>
          <a:p>
            <a:r>
              <a:rPr lang="sl-SI" dirty="0">
                <a:highlight>
                  <a:srgbClr val="FFFF00"/>
                </a:highlight>
              </a:rPr>
              <a:t>Ascorbate and aldarate metabolism</a:t>
            </a:r>
          </a:p>
          <a:p>
            <a:r>
              <a:rPr lang="en-US" dirty="0">
                <a:highlight>
                  <a:srgbClr val="00FF00"/>
                </a:highlight>
              </a:rPr>
              <a:t>Formation and hydrolysis of cholesterol esters</a:t>
            </a:r>
          </a:p>
          <a:p>
            <a:endParaRPr lang="sl-SI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F54516E-8E4F-3B1B-CAB4-E4C3CCF9D91A}"/>
              </a:ext>
            </a:extLst>
          </p:cNvPr>
          <p:cNvSpPr txBox="1"/>
          <p:nvPr/>
        </p:nvSpPr>
        <p:spPr>
          <a:xfrm>
            <a:off x="6750205" y="1077951"/>
            <a:ext cx="4861932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sl-SI" dirty="0"/>
              <a:t>Log2(TPM):</a:t>
            </a:r>
          </a:p>
          <a:p>
            <a:r>
              <a:rPr lang="sl-SI" dirty="0"/>
              <a:t>-352 genov:</a:t>
            </a:r>
          </a:p>
          <a:p>
            <a:r>
              <a:rPr lang="sl-SI" dirty="0">
                <a:highlight>
                  <a:srgbClr val="FFFF00"/>
                </a:highlight>
              </a:rPr>
              <a:t>Starch and sucrose metabolism</a:t>
            </a:r>
          </a:p>
          <a:p>
            <a:r>
              <a:rPr lang="sl-SI" dirty="0"/>
              <a:t>Protein modification</a:t>
            </a:r>
          </a:p>
          <a:p>
            <a:r>
              <a:rPr lang="sl-SI" dirty="0">
                <a:highlight>
                  <a:srgbClr val="FFFF00"/>
                </a:highlight>
              </a:rPr>
              <a:t>Retinol metabolism</a:t>
            </a:r>
          </a:p>
          <a:p>
            <a:r>
              <a:rPr lang="sl-SI" dirty="0"/>
              <a:t>Vitamin A metabolism</a:t>
            </a:r>
          </a:p>
          <a:p>
            <a:r>
              <a:rPr lang="sl-SI" dirty="0">
                <a:highlight>
                  <a:srgbClr val="00FF00"/>
                </a:highlight>
              </a:rPr>
              <a:t>Miscellaneous</a:t>
            </a:r>
          </a:p>
          <a:p>
            <a:r>
              <a:rPr lang="sl-SI" dirty="0">
                <a:highlight>
                  <a:srgbClr val="FFFF00"/>
                </a:highlight>
              </a:rPr>
              <a:t>Acylglycerides metabolism</a:t>
            </a:r>
          </a:p>
          <a:p>
            <a:r>
              <a:rPr lang="sl-SI" dirty="0"/>
              <a:t>Protein degradation</a:t>
            </a:r>
          </a:p>
          <a:p>
            <a:r>
              <a:rPr lang="sl-SI" dirty="0">
                <a:highlight>
                  <a:srgbClr val="FFFF00"/>
                </a:highlight>
              </a:rPr>
              <a:t>Ascorbate and aldarate metabolism</a:t>
            </a:r>
          </a:p>
          <a:p>
            <a:r>
              <a:rPr lang="sl-SI" dirty="0"/>
              <a:t>Protein assembly</a:t>
            </a:r>
          </a:p>
          <a:p>
            <a:r>
              <a:rPr lang="en-US" dirty="0">
                <a:highlight>
                  <a:srgbClr val="00FF00"/>
                </a:highlight>
              </a:rPr>
              <a:t>Formation and hydrolysis of cholesterol esters</a:t>
            </a:r>
          </a:p>
          <a:p>
            <a:endParaRPr lang="sl-SI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853D56D-0E2F-304F-771E-6E12A774D811}"/>
              </a:ext>
            </a:extLst>
          </p:cNvPr>
          <p:cNvSpPr txBox="1"/>
          <p:nvPr/>
        </p:nvSpPr>
        <p:spPr>
          <a:xfrm>
            <a:off x="2341756" y="5018049"/>
            <a:ext cx="703270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sl-SI" dirty="0"/>
              <a:t>Izmed vseh skupnih genov je če 10,3% genov na istem mestu. Če pa gledamo na vse gene pa sta le 2 gena na istem mestu v tabelah.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03DE376-F51F-1D14-FE39-82AF51E649EC}"/>
              </a:ext>
            </a:extLst>
          </p:cNvPr>
          <p:cNvSpPr txBox="1"/>
          <p:nvPr/>
        </p:nvSpPr>
        <p:spPr>
          <a:xfrm>
            <a:off x="2341756" y="6371617"/>
            <a:ext cx="6858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sl-SI" dirty="0"/>
              <a:t>Vpliv outlierjev, zmanjšana varianca pri log, vpliv nizkih tpm…</a:t>
            </a:r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E1BCA5A2-2213-8D7F-04A8-71E28F7E4030}"/>
              </a:ext>
            </a:extLst>
          </p:cNvPr>
          <p:cNvCxnSpPr/>
          <p:nvPr/>
        </p:nvCxnSpPr>
        <p:spPr>
          <a:xfrm>
            <a:off x="5145932" y="5758774"/>
            <a:ext cx="0" cy="71984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1B04CF44-061F-E6F4-5DFE-79C7CBBF06E2}"/>
              </a:ext>
            </a:extLst>
          </p:cNvPr>
          <p:cNvSpPr txBox="1"/>
          <p:nvPr/>
        </p:nvSpPr>
        <p:spPr>
          <a:xfrm>
            <a:off x="437323" y="379379"/>
            <a:ext cx="49382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sl-SI" dirty="0"/>
              <a:t>Top 10 podsistemov</a:t>
            </a:r>
          </a:p>
        </p:txBody>
      </p:sp>
    </p:spTree>
    <p:extLst>
      <p:ext uri="{BB962C8B-B14F-4D97-AF65-F5344CB8AC3E}">
        <p14:creationId xmlns:p14="http://schemas.microsoft.com/office/powerpoint/2010/main" val="290770917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46E6EB40-7E15-1DDC-B779-F219A0BFA2D1}"/>
              </a:ext>
            </a:extLst>
          </p:cNvPr>
          <p:cNvSpPr txBox="1"/>
          <p:nvPr/>
        </p:nvSpPr>
        <p:spPr>
          <a:xfrm>
            <a:off x="817756" y="505522"/>
            <a:ext cx="970899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sl-SI" dirty="0"/>
              <a:t>Wilcoxonov test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015C1BA-A11C-9A74-5023-F8E7CACBABEC}"/>
              </a:ext>
            </a:extLst>
          </p:cNvPr>
          <p:cNvSpPr txBox="1"/>
          <p:nvPr/>
        </p:nvSpPr>
        <p:spPr>
          <a:xfrm>
            <a:off x="275063" y="1204332"/>
            <a:ext cx="1164187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sl-SI" dirty="0"/>
              <a:t>Vsakemu genu v TPM in log2TPM smo pripisali p- vrednost (H</a:t>
            </a:r>
            <a:r>
              <a:rPr lang="sl-SI" sz="1100" dirty="0"/>
              <a:t>0</a:t>
            </a:r>
            <a:r>
              <a:rPr lang="sl-SI" dirty="0"/>
              <a:t>: Porazdelitvi log2TPM v tumorskih in normalnih vzorcih sta enaki). Uporabili BH korekcijo, da dobimo padj (-&gt; da se znebimo false positives). 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88748D4-2B5D-7B26-8E69-CAB4DA226B6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89753" y="2106289"/>
            <a:ext cx="7588061" cy="2841487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8C8AC23B-43FB-ADEF-B17D-DDDF7C8A125F}"/>
              </a:ext>
            </a:extLst>
          </p:cNvPr>
          <p:cNvSpPr txBox="1"/>
          <p:nvPr/>
        </p:nvSpPr>
        <p:spPr>
          <a:xfrm>
            <a:off x="10065835" y="367022"/>
            <a:ext cx="144965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sl-SI" dirty="0"/>
              <a:t>Log2TPM</a:t>
            </a:r>
          </a:p>
          <a:p>
            <a:r>
              <a:rPr lang="sl-SI" dirty="0"/>
              <a:t>352 genov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1438B58-0BF2-9F36-7660-8F2462F3A2EF}"/>
              </a:ext>
            </a:extLst>
          </p:cNvPr>
          <p:cNvSpPr txBox="1"/>
          <p:nvPr/>
        </p:nvSpPr>
        <p:spPr>
          <a:xfrm>
            <a:off x="1471961" y="5575610"/>
            <a:ext cx="366503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sl-SI" dirty="0"/>
              <a:t>p&lt;0,01</a:t>
            </a:r>
          </a:p>
          <a:p>
            <a:r>
              <a:rPr lang="sl-SI" dirty="0"/>
              <a:t>182 metabolnih genov </a:t>
            </a:r>
          </a:p>
          <a:p>
            <a:r>
              <a:rPr lang="sl-SI" dirty="0"/>
              <a:t>51,7%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EDB3553-3D7B-025B-C90B-2683BC131907}"/>
              </a:ext>
            </a:extLst>
          </p:cNvPr>
          <p:cNvSpPr txBox="1"/>
          <p:nvPr/>
        </p:nvSpPr>
        <p:spPr>
          <a:xfrm>
            <a:off x="6638693" y="5575610"/>
            <a:ext cx="334536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sl-SI" dirty="0"/>
              <a:t>padj&lt;0,01</a:t>
            </a:r>
          </a:p>
          <a:p>
            <a:r>
              <a:rPr lang="sl-SI" dirty="0"/>
              <a:t>159 metabolnih genov</a:t>
            </a:r>
          </a:p>
          <a:p>
            <a:r>
              <a:rPr lang="sl-SI" dirty="0"/>
              <a:t>45,2%</a:t>
            </a:r>
          </a:p>
        </p:txBody>
      </p:sp>
    </p:spTree>
    <p:extLst>
      <p:ext uri="{BB962C8B-B14F-4D97-AF65-F5344CB8AC3E}">
        <p14:creationId xmlns:p14="http://schemas.microsoft.com/office/powerpoint/2010/main" val="275485337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1AF737BB-6005-7923-0A60-2DB1898B6D02}"/>
              </a:ext>
            </a:extLst>
          </p:cNvPr>
          <p:cNvSpPr txBox="1"/>
          <p:nvPr/>
        </p:nvSpPr>
        <p:spPr>
          <a:xfrm>
            <a:off x="275063" y="275063"/>
            <a:ext cx="46017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sl-SI" dirty="0"/>
              <a:t>padj&lt;0,01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DE87057-7710-B134-A2C7-74DAED7A126B}"/>
              </a:ext>
            </a:extLst>
          </p:cNvPr>
          <p:cNvSpPr txBox="1"/>
          <p:nvPr/>
        </p:nvSpPr>
        <p:spPr>
          <a:xfrm>
            <a:off x="330819" y="804073"/>
            <a:ext cx="147939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sl-SI" dirty="0"/>
              <a:t>AUC&gt;0,5</a:t>
            </a:r>
          </a:p>
          <a:p>
            <a:r>
              <a:rPr lang="sl-SI" dirty="0"/>
              <a:t>159 genov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80958B4-B5D4-FF8D-3877-193F124BA8B6}"/>
              </a:ext>
            </a:extLst>
          </p:cNvPr>
          <p:cNvSpPr txBox="1"/>
          <p:nvPr/>
        </p:nvSpPr>
        <p:spPr>
          <a:xfrm>
            <a:off x="3170663" y="804074"/>
            <a:ext cx="147939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sl-SI" dirty="0"/>
              <a:t>AUC&gt;0,6</a:t>
            </a:r>
          </a:p>
          <a:p>
            <a:r>
              <a:rPr lang="sl-SI" dirty="0"/>
              <a:t>157 genov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F2B86B2-721E-DF4A-316D-137489B1E05D}"/>
              </a:ext>
            </a:extLst>
          </p:cNvPr>
          <p:cNvSpPr txBox="1"/>
          <p:nvPr/>
        </p:nvSpPr>
        <p:spPr>
          <a:xfrm>
            <a:off x="5675971" y="804073"/>
            <a:ext cx="147939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sl-SI" dirty="0"/>
              <a:t>AUC&gt;0,7</a:t>
            </a:r>
          </a:p>
          <a:p>
            <a:r>
              <a:rPr lang="sl-SI" dirty="0"/>
              <a:t>107 genov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421E140-232D-DC0E-79AD-8383731E4964}"/>
              </a:ext>
            </a:extLst>
          </p:cNvPr>
          <p:cNvSpPr txBox="1"/>
          <p:nvPr/>
        </p:nvSpPr>
        <p:spPr>
          <a:xfrm>
            <a:off x="8028877" y="804072"/>
            <a:ext cx="147939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sl-SI" dirty="0"/>
              <a:t>AUC&gt;0,8</a:t>
            </a:r>
          </a:p>
          <a:p>
            <a:r>
              <a:rPr lang="sl-SI" dirty="0"/>
              <a:t>38 genov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8961C37-5B2F-B3AB-9A67-5C493C518537}"/>
              </a:ext>
            </a:extLst>
          </p:cNvPr>
          <p:cNvSpPr txBox="1"/>
          <p:nvPr/>
        </p:nvSpPr>
        <p:spPr>
          <a:xfrm>
            <a:off x="10381786" y="804072"/>
            <a:ext cx="147939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sl-SI" dirty="0"/>
              <a:t>AUC&gt;0,9</a:t>
            </a:r>
          </a:p>
          <a:p>
            <a:r>
              <a:rPr lang="sl-SI" dirty="0"/>
              <a:t>7 genov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B597D931-85A9-4B61-E4FD-B15777130F9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70663" y="1639232"/>
            <a:ext cx="6679117" cy="5218768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3B03EB72-4D2B-A6D0-B02A-398202E0FCD2}"/>
              </a:ext>
            </a:extLst>
          </p:cNvPr>
          <p:cNvSpPr txBox="1"/>
          <p:nvPr/>
        </p:nvSpPr>
        <p:spPr>
          <a:xfrm>
            <a:off x="10586226" y="136563"/>
            <a:ext cx="144965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sl-SI" dirty="0"/>
              <a:t>Log2TPM</a:t>
            </a:r>
          </a:p>
          <a:p>
            <a:r>
              <a:rPr lang="sl-SI" dirty="0"/>
              <a:t>352 genov</a:t>
            </a:r>
          </a:p>
        </p:txBody>
      </p:sp>
    </p:spTree>
    <p:extLst>
      <p:ext uri="{BB962C8B-B14F-4D97-AF65-F5344CB8AC3E}">
        <p14:creationId xmlns:p14="http://schemas.microsoft.com/office/powerpoint/2010/main" val="142443629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67CBC5D7-3084-EE0F-21D8-2C89BDBA4C6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703" y="851786"/>
            <a:ext cx="7101775" cy="5549014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1DFFCEBF-5084-3601-C327-C3A51AF9069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47803" y="2095272"/>
            <a:ext cx="5005327" cy="3910942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EAFAAD17-2D78-A60D-E0F5-7458658D8D3A}"/>
              </a:ext>
            </a:extLst>
          </p:cNvPr>
          <p:cNvSpPr txBox="1"/>
          <p:nvPr/>
        </p:nvSpPr>
        <p:spPr>
          <a:xfrm>
            <a:off x="6698166" y="851786"/>
            <a:ext cx="450509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sl-SI" dirty="0"/>
              <a:t>VSI GENI top 10 podsistemov</a:t>
            </a:r>
          </a:p>
        </p:txBody>
      </p:sp>
    </p:spTree>
    <p:extLst>
      <p:ext uri="{BB962C8B-B14F-4D97-AF65-F5344CB8AC3E}">
        <p14:creationId xmlns:p14="http://schemas.microsoft.com/office/powerpoint/2010/main" val="206256771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3205610A-0BC5-6AB0-26A6-050567E542A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245093" y="9708"/>
            <a:ext cx="8764626" cy="6848292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447C8128-51E0-A609-8F54-D953077F0956}"/>
              </a:ext>
            </a:extLst>
          </p:cNvPr>
          <p:cNvSpPr txBox="1"/>
          <p:nvPr/>
        </p:nvSpPr>
        <p:spPr>
          <a:xfrm>
            <a:off x="8638478" y="639337"/>
            <a:ext cx="3293327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sl-SI" dirty="0"/>
              <a:t>Signifikantne razlike med TPM in log2TPM so le v različnih izračunih distanc in ne AUC genov.</a:t>
            </a:r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3D07EBFF-B9A8-FDF5-7714-41D08E21F1B5}"/>
              </a:ext>
            </a:extLst>
          </p:cNvPr>
          <p:cNvCxnSpPr/>
          <p:nvPr/>
        </p:nvCxnSpPr>
        <p:spPr>
          <a:xfrm flipH="1" flipV="1">
            <a:off x="8638478" y="4073912"/>
            <a:ext cx="2334322" cy="74341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6E76D3AF-50CD-A8D8-91D8-C67FDAC87B15}"/>
              </a:ext>
            </a:extLst>
          </p:cNvPr>
          <p:cNvSpPr txBox="1"/>
          <p:nvPr/>
        </p:nvSpPr>
        <p:spPr>
          <a:xfrm>
            <a:off x="9240644" y="5025769"/>
            <a:ext cx="2951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sl-SI" dirty="0"/>
              <a:t>Primerjava le skupnih genov (isti podsistem in id)</a:t>
            </a:r>
          </a:p>
        </p:txBody>
      </p:sp>
    </p:spTree>
    <p:extLst>
      <p:ext uri="{BB962C8B-B14F-4D97-AF65-F5344CB8AC3E}">
        <p14:creationId xmlns:p14="http://schemas.microsoft.com/office/powerpoint/2010/main" val="412083068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831184F8-FCCB-6252-E261-4D5AFAF5BBC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9897" y="324909"/>
            <a:ext cx="7696403" cy="601363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C074BA4A-95D8-A8C8-D72E-36413A27DB85}"/>
              </a:ext>
            </a:extLst>
          </p:cNvPr>
          <p:cNvSpPr txBox="1"/>
          <p:nvPr/>
        </p:nvSpPr>
        <p:spPr>
          <a:xfrm>
            <a:off x="8570069" y="1585609"/>
            <a:ext cx="314203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sl-SI" dirty="0"/>
              <a:t>V human1 je 138 podsistemov v merged (TPM in log2(TPM) pa 133 podsistemov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70C6C22-EF68-03A3-2EC2-E315449BB337}"/>
              </a:ext>
            </a:extLst>
          </p:cNvPr>
          <p:cNvSpPr txBox="1"/>
          <p:nvPr/>
        </p:nvSpPr>
        <p:spPr>
          <a:xfrm>
            <a:off x="8861898" y="3608962"/>
            <a:ext cx="285020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sl-SI" dirty="0"/>
              <a:t>133podsistemov * 52 parov = 6 916 točk na grafu</a:t>
            </a:r>
          </a:p>
        </p:txBody>
      </p:sp>
    </p:spTree>
    <p:extLst>
      <p:ext uri="{BB962C8B-B14F-4D97-AF65-F5344CB8AC3E}">
        <p14:creationId xmlns:p14="http://schemas.microsoft.com/office/powerpoint/2010/main" val="305925949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30237DD3-74ED-9497-A514-D76A079CF25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0032" y="1587610"/>
            <a:ext cx="5925968" cy="463029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0D0CD169-1BC1-55AF-E7CC-2B8A27BF522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75240" y="1707242"/>
            <a:ext cx="5619750" cy="43910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962674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BE4B080-6925-5F8B-6745-8EB4BA2ED3AF}"/>
              </a:ext>
            </a:extLst>
          </p:cNvPr>
          <p:cNvSpPr txBox="1"/>
          <p:nvPr/>
        </p:nvSpPr>
        <p:spPr>
          <a:xfrm>
            <a:off x="530492" y="446730"/>
            <a:ext cx="666604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sl-SI" dirty="0"/>
              <a:t>Združitev rezultatov DESeq2 in log2TPM pipeline-s 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0E05F1A-13AF-5A79-B1E0-D20BF592D4E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7273" y="816062"/>
            <a:ext cx="7806382" cy="5935925"/>
          </a:xfrm>
          <a:prstGeom prst="rect">
            <a:avLst/>
          </a:prstGeom>
        </p:spPr>
      </p:pic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D5EC3C4A-7681-23EC-B97A-C440E03CA1A5}"/>
              </a:ext>
            </a:extLst>
          </p:cNvPr>
          <p:cNvCxnSpPr/>
          <p:nvPr/>
        </p:nvCxnSpPr>
        <p:spPr>
          <a:xfrm>
            <a:off x="1107273" y="1658761"/>
            <a:ext cx="7806382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1422822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589C132-B719-C6DE-1983-721D7BCD51C0}"/>
              </a:ext>
            </a:extLst>
          </p:cNvPr>
          <p:cNvSpPr txBox="1"/>
          <p:nvPr/>
        </p:nvSpPr>
        <p:spPr>
          <a:xfrm>
            <a:off x="586332" y="467671"/>
            <a:ext cx="589124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sl-SI" dirty="0"/>
              <a:t>ENSG00000100994, glikogen fosforilaza B (brain form)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8266341-A11D-BFBA-E232-13B4AB09B428}"/>
              </a:ext>
            </a:extLst>
          </p:cNvPr>
          <p:cNvSpPr txBox="1"/>
          <p:nvPr/>
        </p:nvSpPr>
        <p:spPr>
          <a:xfrm>
            <a:off x="586332" y="837003"/>
            <a:ext cx="7915494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sl-SI" dirty="0"/>
              <a:t>-Podsistem: Starch and sucrose metabolism</a:t>
            </a:r>
          </a:p>
          <a:p>
            <a:r>
              <a:rPr lang="sl-SI" dirty="0"/>
              <a:t>-AUC: 0.9334320 </a:t>
            </a:r>
          </a:p>
          <a:p>
            <a:r>
              <a:rPr lang="sl-SI" dirty="0"/>
              <a:t>-wilcox_padj: 9.018349e-08</a:t>
            </a:r>
          </a:p>
          <a:p>
            <a:r>
              <a:rPr lang="sl-SI" dirty="0"/>
              <a:t>-DESeq2_padj: 2.159467e-26</a:t>
            </a:r>
          </a:p>
          <a:p>
            <a:r>
              <a:rPr lang="sl-SI" dirty="0"/>
              <a:t>-DESeq2_log2FC: 1.165732</a:t>
            </a:r>
          </a:p>
          <a:p>
            <a:endParaRPr lang="sl-SI" dirty="0"/>
          </a:p>
          <a:p>
            <a:r>
              <a:rPr lang="sl-SI" dirty="0"/>
              <a:t>-Uniprot: </a:t>
            </a:r>
            <a:r>
              <a:rPr lang="sl-SI" b="1" dirty="0"/>
              <a:t>P11216 </a:t>
            </a:r>
          </a:p>
          <a:p>
            <a:r>
              <a:rPr lang="sl-SI" dirty="0"/>
              <a:t>-izoblika glikogen fosforilaze, ki se najde pretežno v možganih. Aktivirana z AMP</a:t>
            </a:r>
          </a:p>
        </p:txBody>
      </p:sp>
      <p:sp>
        <p:nvSpPr>
          <p:cNvPr id="8" name="Rectangle 1">
            <a:extLst>
              <a:ext uri="{FF2B5EF4-FFF2-40B4-BE49-F238E27FC236}">
                <a16:creationId xmlns:a16="http://schemas.microsoft.com/office/drawing/2014/main" id="{1C083881-F487-D02E-2856-27096E2E1DE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57625" y="367665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sl-SI" altLang="sl-SI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sl-SI" altLang="sl-SI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397B34E-ACBC-2D62-5309-8AFFC9E43AE5}"/>
              </a:ext>
            </a:extLst>
          </p:cNvPr>
          <p:cNvSpPr txBox="1"/>
          <p:nvPr/>
        </p:nvSpPr>
        <p:spPr>
          <a:xfrm>
            <a:off x="6282139" y="5537904"/>
            <a:ext cx="542357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sl-SI" dirty="0"/>
              <a:t>-razgradnja glikogena na glukoza-1-fosfat,</a:t>
            </a:r>
          </a:p>
          <a:p>
            <a:r>
              <a:rPr lang="sl-SI" dirty="0"/>
              <a:t>-več glukoze na voljo za glikolizo (Warburg efekt)</a:t>
            </a:r>
          </a:p>
          <a:p>
            <a:r>
              <a:rPr lang="sl-SI" dirty="0"/>
              <a:t>-večja ekspresija ampak ali je res povečana glikogenoliza?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77F6D8D1-C6DE-5797-E333-D12381D6950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28575" y="3965247"/>
            <a:ext cx="5730705" cy="1449894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5CD3792E-FA4D-18ED-9782-2B980FF8EB8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613" y="3388054"/>
            <a:ext cx="5891250" cy="3469946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869B3B67-6828-01C8-B41C-E8F1028DAC2F}"/>
                  </a:ext>
                </a:extLst>
              </p:cNvPr>
              <p:cNvSpPr txBox="1"/>
              <p:nvPr/>
            </p:nvSpPr>
            <p:spPr>
              <a:xfrm>
                <a:off x="9511040" y="119767"/>
                <a:ext cx="2194677" cy="49167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sl-SI" dirty="0"/>
                  <a:t>log2FC=log</a:t>
                </a:r>
                <a:r>
                  <a:rPr lang="sl-SI" sz="1000" dirty="0"/>
                  <a:t>2</a:t>
                </a:r>
                <a:r>
                  <a:rPr lang="sl-SI" dirty="0"/>
                  <a:t>(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sl-SI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sl-SI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sl-SI" i="1">
                                <a:latin typeface="Cambria Math" panose="02040503050406030204" pitchFamily="18" charset="0"/>
                              </a:rPr>
                              <m:t>𝜇</m:t>
                            </m:r>
                          </m:e>
                          <m:sub>
                            <m:r>
                              <a:rPr lang="sl-SI" i="1">
                                <a:latin typeface="Cambria Math" panose="02040503050406030204" pitchFamily="18" charset="0"/>
                              </a:rPr>
                              <m:t>𝑡𝑢𝑚𝑜𝑟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sl-SI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sl-SI" i="1">
                                <a:latin typeface="Cambria Math" panose="02040503050406030204" pitchFamily="18" charset="0"/>
                              </a:rPr>
                              <m:t>𝜇</m:t>
                            </m:r>
                          </m:e>
                          <m:sub>
                            <m:r>
                              <a:rPr lang="sl-SI" i="1">
                                <a:latin typeface="Cambria Math" panose="02040503050406030204" pitchFamily="18" charset="0"/>
                              </a:rPr>
                              <m:t>𝑧𝑑𝑟𝑎𝑣</m:t>
                            </m:r>
                          </m:sub>
                        </m:sSub>
                      </m:den>
                    </m:f>
                  </m:oMath>
                </a14:m>
                <a:r>
                  <a:rPr lang="sl-SI" dirty="0"/>
                  <a:t>) </a:t>
                </a:r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869B3B67-6828-01C8-B41C-E8F1028DAC2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511040" y="119767"/>
                <a:ext cx="2194677" cy="491673"/>
              </a:xfrm>
              <a:prstGeom prst="rect">
                <a:avLst/>
              </a:prstGeom>
              <a:blipFill>
                <a:blip r:embed="rId4"/>
                <a:stretch>
                  <a:fillRect l="-2222" b="-3750"/>
                </a:stretch>
              </a:blipFill>
            </p:spPr>
            <p:txBody>
              <a:bodyPr/>
              <a:lstStyle/>
              <a:p>
                <a:r>
                  <a:rPr lang="sl-SI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6" name="Picture 15">
            <a:extLst>
              <a:ext uri="{FF2B5EF4-FFF2-40B4-BE49-F238E27FC236}">
                <a16:creationId xmlns:a16="http://schemas.microsoft.com/office/drawing/2014/main" id="{E2594519-5FFE-9FF0-68CC-B4060643439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484934" y="1135571"/>
            <a:ext cx="314107" cy="314107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146861A6-FFBC-781B-91D4-F23645CD4A6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28515" y="1396056"/>
            <a:ext cx="314107" cy="314107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14DEE27D-901A-C396-6BF6-ADDC3266C75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35495" y="1695214"/>
            <a:ext cx="314107" cy="314107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5489996F-714B-BAF8-6CC0-E87E9D72C92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28515" y="1994372"/>
            <a:ext cx="314107" cy="3141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2922071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6491AB0-D823-CE03-EA7E-1940FD867B5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9936" y="1099294"/>
            <a:ext cx="5335671" cy="4130842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6B8A7E46-9F75-E4D2-2F6E-FFA63D92E96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71266" y="1099294"/>
            <a:ext cx="5335671" cy="41308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696712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97C8893A-1639-8F84-5306-B84A3C37E01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3580" y="1683088"/>
            <a:ext cx="5610225" cy="434340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B469271F-B8B6-773E-4AB8-63FF89695D9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92352" y="1683088"/>
            <a:ext cx="5610225" cy="434340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B900893D-140F-3B00-592F-C6365A665A20}"/>
              </a:ext>
            </a:extLst>
          </p:cNvPr>
          <p:cNvSpPr txBox="1"/>
          <p:nvPr/>
        </p:nvSpPr>
        <p:spPr>
          <a:xfrm>
            <a:off x="7076303" y="6026488"/>
            <a:ext cx="425896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sl-SI" dirty="0"/>
              <a:t>-AUC: 0.9334320 </a:t>
            </a:r>
          </a:p>
          <a:p>
            <a:endParaRPr lang="sl-SI" dirty="0"/>
          </a:p>
        </p:txBody>
      </p:sp>
    </p:spTree>
    <p:extLst>
      <p:ext uri="{BB962C8B-B14F-4D97-AF65-F5344CB8AC3E}">
        <p14:creationId xmlns:p14="http://schemas.microsoft.com/office/powerpoint/2010/main" val="356797087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AC45DF-EF4B-CCC2-1408-05902F7DA8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C16A559-DA81-537A-1681-C2D14A5686B3}"/>
              </a:ext>
            </a:extLst>
          </p:cNvPr>
          <p:cNvSpPr txBox="1"/>
          <p:nvPr/>
        </p:nvSpPr>
        <p:spPr>
          <a:xfrm>
            <a:off x="530492" y="446730"/>
            <a:ext cx="666604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sl-SI" dirty="0"/>
              <a:t>Združitev rezultatov DESeq2 in log2TPM pipeline-s 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377B809-B258-5E06-FDCC-89E1817C89E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7273" y="816062"/>
            <a:ext cx="7806382" cy="5935925"/>
          </a:xfrm>
          <a:prstGeom prst="rect">
            <a:avLst/>
          </a:prstGeom>
        </p:spPr>
      </p:pic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844812BB-9D10-6494-5CC5-B98900BAABAA}"/>
              </a:ext>
            </a:extLst>
          </p:cNvPr>
          <p:cNvCxnSpPr/>
          <p:nvPr/>
        </p:nvCxnSpPr>
        <p:spPr>
          <a:xfrm flipH="1">
            <a:off x="8913655" y="2928225"/>
            <a:ext cx="1779939" cy="47465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144E2A49-E7BD-88A8-77D6-C4E6411D593B}"/>
              </a:ext>
            </a:extLst>
          </p:cNvPr>
          <p:cNvSpPr txBox="1"/>
          <p:nvPr/>
        </p:nvSpPr>
        <p:spPr>
          <a:xfrm>
            <a:off x="9632610" y="2281894"/>
            <a:ext cx="233835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sl-SI" dirty="0"/>
              <a:t>Na ravni countov ta kandidat ne obstaja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03093254-3C76-CFB6-835D-74C8E6583395}"/>
              </a:ext>
            </a:extLst>
          </p:cNvPr>
          <p:cNvCxnSpPr/>
          <p:nvPr/>
        </p:nvCxnSpPr>
        <p:spPr>
          <a:xfrm>
            <a:off x="1107273" y="3504037"/>
            <a:ext cx="7806382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9175789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Oval 24">
            <a:extLst>
              <a:ext uri="{FF2B5EF4-FFF2-40B4-BE49-F238E27FC236}">
                <a16:creationId xmlns:a16="http://schemas.microsoft.com/office/drawing/2014/main" id="{9936F6FD-7C0A-926A-ADA6-56AEE4FC9711}"/>
              </a:ext>
            </a:extLst>
          </p:cNvPr>
          <p:cNvSpPr/>
          <p:nvPr/>
        </p:nvSpPr>
        <p:spPr>
          <a:xfrm>
            <a:off x="6835015" y="226139"/>
            <a:ext cx="4552067" cy="2082587"/>
          </a:xfrm>
          <a:prstGeom prst="ellipse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sl-SI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F4D211F-EC10-4768-3DFE-102FAA9D0921}"/>
              </a:ext>
            </a:extLst>
          </p:cNvPr>
          <p:cNvSpPr txBox="1"/>
          <p:nvPr/>
        </p:nvSpPr>
        <p:spPr>
          <a:xfrm>
            <a:off x="418809" y="384217"/>
            <a:ext cx="825404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sl-SI" dirty="0"/>
              <a:t>ENSG00000025423, 17-beta-hidroksisteroid dehidrogenaza tipa 6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D49C183-5F01-74C6-4D0D-A4F3C15F2636}"/>
              </a:ext>
            </a:extLst>
          </p:cNvPr>
          <p:cNvSpPr txBox="1"/>
          <p:nvPr/>
        </p:nvSpPr>
        <p:spPr>
          <a:xfrm>
            <a:off x="159976" y="753549"/>
            <a:ext cx="8512879" cy="28315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sl-SI" sz="1600" dirty="0"/>
              <a:t>-Podsistem: Retinol metabolism</a:t>
            </a:r>
          </a:p>
          <a:p>
            <a:r>
              <a:rPr lang="sl-SI" sz="1600" dirty="0"/>
              <a:t>-AUC: 0.8801775 </a:t>
            </a:r>
          </a:p>
          <a:p>
            <a:r>
              <a:rPr lang="sl-SI" sz="1600" dirty="0"/>
              <a:t>-wilcox_padj: 3.760278e-07</a:t>
            </a:r>
          </a:p>
          <a:p>
            <a:r>
              <a:rPr lang="sl-SI" sz="1600" dirty="0"/>
              <a:t>-DESeq2_padj: /</a:t>
            </a:r>
          </a:p>
          <a:p>
            <a:r>
              <a:rPr lang="sl-SI" sz="1600" dirty="0"/>
              <a:t>-DESeq2_log2FC: /</a:t>
            </a:r>
          </a:p>
          <a:p>
            <a:endParaRPr lang="sl-SI" sz="1600" dirty="0"/>
          </a:p>
          <a:p>
            <a:r>
              <a:rPr lang="sl-SI" sz="1600" dirty="0"/>
              <a:t>-Uniprot: </a:t>
            </a:r>
            <a:r>
              <a:rPr lang="sl-SI" sz="1600" b="1" dirty="0"/>
              <a:t>O14756  </a:t>
            </a:r>
          </a:p>
          <a:p>
            <a:r>
              <a:rPr lang="sl-SI" sz="1600" dirty="0"/>
              <a:t>-od NAD+ odvisna oksidoreduktaza, ki oksidira razne steroide (dehidrogenazna aktivnost). </a:t>
            </a:r>
          </a:p>
          <a:p>
            <a:r>
              <a:rPr lang="sl-SI" sz="1600" dirty="0"/>
              <a:t>androgeni metabolizem : </a:t>
            </a:r>
            <a:r>
              <a:rPr lang="el-GR" sz="1600" b="1" dirty="0"/>
              <a:t>3α-</a:t>
            </a:r>
            <a:r>
              <a:rPr lang="sl-SI" sz="1600" b="1" dirty="0"/>
              <a:t>androstanediol → dihidrotestosteron (DHT)</a:t>
            </a:r>
          </a:p>
          <a:p>
            <a:r>
              <a:rPr lang="sl-SI" sz="1600" dirty="0"/>
              <a:t>presnova vitamina A: </a:t>
            </a:r>
            <a:r>
              <a:rPr lang="sl-SI" sz="1600" b="1" dirty="0"/>
              <a:t>retinol (vitamin A) -&gt; retinal </a:t>
            </a:r>
            <a:r>
              <a:rPr lang="sl-SI" sz="1600" dirty="0"/>
              <a:t>-&gt; retinojska kislina (biološko aktivna)</a:t>
            </a:r>
          </a:p>
          <a:p>
            <a:endParaRPr lang="sl-SI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EE4D5E6D-8C8D-67BA-2003-177CBCC2624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7494" y="3365100"/>
            <a:ext cx="7992023" cy="3353132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C808D9EC-6A74-9D65-D976-867668C0E31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12354" y="1004252"/>
            <a:ext cx="314107" cy="314107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0D4573AF-E639-024B-AA6F-5619E61A7AA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19426" y="1234364"/>
            <a:ext cx="302421" cy="302421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4EC19DD9-C186-C2DF-0E3D-53D1560E230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22076" y="1536480"/>
            <a:ext cx="302421" cy="302421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1AD0549B-9EA1-F4A3-8DB6-D1E0AA5C295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24497" y="1765164"/>
            <a:ext cx="317423" cy="317423"/>
          </a:xfrm>
          <a:prstGeom prst="rect">
            <a:avLst/>
          </a:prstGeom>
        </p:spPr>
      </p:pic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499411CB-A710-9866-1840-86B9F5C010D0}"/>
              </a:ext>
            </a:extLst>
          </p:cNvPr>
          <p:cNvCxnSpPr>
            <a:cxnSpLocks/>
          </p:cNvCxnSpPr>
          <p:nvPr/>
        </p:nvCxnSpPr>
        <p:spPr>
          <a:xfrm flipH="1">
            <a:off x="7143139" y="2636108"/>
            <a:ext cx="1967910" cy="23203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66970522-12A2-BC03-D9C9-A00D62031899}"/>
              </a:ext>
            </a:extLst>
          </p:cNvPr>
          <p:cNvSpPr txBox="1"/>
          <p:nvPr/>
        </p:nvSpPr>
        <p:spPr>
          <a:xfrm>
            <a:off x="9111049" y="2290803"/>
            <a:ext cx="292097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sl-SI" sz="1600" dirty="0"/>
              <a:t>Večja proliferacija, večja sinteza proteinov, več rasti</a:t>
            </a:r>
          </a:p>
        </p:txBody>
      </p: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05F6EC28-0A17-91B0-2281-2B3EA66B70F0}"/>
              </a:ext>
            </a:extLst>
          </p:cNvPr>
          <p:cNvCxnSpPr/>
          <p:nvPr/>
        </p:nvCxnSpPr>
        <p:spPr>
          <a:xfrm flipH="1" flipV="1">
            <a:off x="8023654" y="3155092"/>
            <a:ext cx="1301578" cy="8237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>
            <a:extLst>
              <a:ext uri="{FF2B5EF4-FFF2-40B4-BE49-F238E27FC236}">
                <a16:creationId xmlns:a16="http://schemas.microsoft.com/office/drawing/2014/main" id="{69A1135F-A37E-CF3F-107D-C490BBFB329E}"/>
              </a:ext>
            </a:extLst>
          </p:cNvPr>
          <p:cNvSpPr txBox="1"/>
          <p:nvPr/>
        </p:nvSpPr>
        <p:spPr>
          <a:xfrm>
            <a:off x="9325232" y="3072713"/>
            <a:ext cx="258322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sl-SI" sz="1600" dirty="0"/>
              <a:t>Večja diferenciacija, nižja proliferacija, manj rasti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5F4D2EFC-458D-EC90-C7EB-19EE28D4E004}"/>
              </a:ext>
            </a:extLst>
          </p:cNvPr>
          <p:cNvSpPr txBox="1"/>
          <p:nvPr/>
        </p:nvSpPr>
        <p:spPr>
          <a:xfrm>
            <a:off x="7659721" y="507852"/>
            <a:ext cx="3051847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sl-SI" dirty="0"/>
              <a:t>Ampak kako vemo katere metabolne reakcije v različnih podsistemih spodbuja? Le eno? Obe? Nobeno? FLUX ANALIZA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AD562425-A022-F2A5-652A-9D385876C74A}"/>
                  </a:ext>
                </a:extLst>
              </p:cNvPr>
              <p:cNvSpPr txBox="1"/>
              <p:nvPr/>
            </p:nvSpPr>
            <p:spPr>
              <a:xfrm>
                <a:off x="10040902" y="16179"/>
                <a:ext cx="2194677" cy="49167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sl-SI" dirty="0"/>
                  <a:t>log2FC=log</a:t>
                </a:r>
                <a:r>
                  <a:rPr lang="sl-SI" sz="1000" dirty="0"/>
                  <a:t>2</a:t>
                </a:r>
                <a:r>
                  <a:rPr lang="sl-SI" dirty="0"/>
                  <a:t>(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sl-SI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sl-SI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sl-SI" i="1">
                                <a:latin typeface="Cambria Math" panose="02040503050406030204" pitchFamily="18" charset="0"/>
                              </a:rPr>
                              <m:t>𝜇</m:t>
                            </m:r>
                          </m:e>
                          <m:sub>
                            <m:r>
                              <a:rPr lang="sl-SI" i="1">
                                <a:latin typeface="Cambria Math" panose="02040503050406030204" pitchFamily="18" charset="0"/>
                              </a:rPr>
                              <m:t>𝑡𝑢𝑚𝑜𝑟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sl-SI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sl-SI" i="1">
                                <a:latin typeface="Cambria Math" panose="02040503050406030204" pitchFamily="18" charset="0"/>
                              </a:rPr>
                              <m:t>𝜇</m:t>
                            </m:r>
                          </m:e>
                          <m:sub>
                            <m:r>
                              <a:rPr lang="sl-SI" i="1">
                                <a:latin typeface="Cambria Math" panose="02040503050406030204" pitchFamily="18" charset="0"/>
                              </a:rPr>
                              <m:t>𝑧𝑑𝑟𝑎𝑣</m:t>
                            </m:r>
                          </m:sub>
                        </m:sSub>
                      </m:den>
                    </m:f>
                  </m:oMath>
                </a14:m>
                <a:r>
                  <a:rPr lang="sl-SI" dirty="0"/>
                  <a:t>) </a:t>
                </a:r>
              </a:p>
            </p:txBody>
          </p:sp>
        </mc:Choice>
        <mc:Fallback xmlns="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AD562425-A022-F2A5-652A-9D385876C74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040902" y="16179"/>
                <a:ext cx="2194677" cy="491673"/>
              </a:xfrm>
              <a:prstGeom prst="rect">
                <a:avLst/>
              </a:prstGeom>
              <a:blipFill>
                <a:blip r:embed="rId5"/>
                <a:stretch>
                  <a:fillRect l="-2222" b="-3750"/>
                </a:stretch>
              </a:blipFill>
            </p:spPr>
            <p:txBody>
              <a:bodyPr/>
              <a:lstStyle/>
              <a:p>
                <a:r>
                  <a:rPr lang="sl-SI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00314999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3541933B-DBF2-CCAD-B802-849671A4851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5958" y="1268626"/>
            <a:ext cx="6031856" cy="46698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3326879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C3DA8364-9E09-C462-929B-F24A2EE3B20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6985" y="1302093"/>
            <a:ext cx="6090379" cy="4715132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EC8ED9DF-9A8F-6432-BCC4-AAF329A4B8A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07082" y="1487959"/>
            <a:ext cx="5610225" cy="434340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E8249B0A-11F2-6A64-F67E-4D33DA392031}"/>
              </a:ext>
            </a:extLst>
          </p:cNvPr>
          <p:cNvSpPr txBox="1"/>
          <p:nvPr/>
        </p:nvSpPr>
        <p:spPr>
          <a:xfrm>
            <a:off x="7570573" y="5947719"/>
            <a:ext cx="340222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sl-SI" dirty="0"/>
              <a:t>-AUC: 0.8801775 </a:t>
            </a:r>
          </a:p>
          <a:p>
            <a:endParaRPr lang="sl-SI" dirty="0"/>
          </a:p>
        </p:txBody>
      </p:sp>
    </p:spTree>
    <p:extLst>
      <p:ext uri="{BB962C8B-B14F-4D97-AF65-F5344CB8AC3E}">
        <p14:creationId xmlns:p14="http://schemas.microsoft.com/office/powerpoint/2010/main" val="3397915279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05FBB28-82EF-08A0-60E9-7DB06A5439F3}"/>
              </a:ext>
            </a:extLst>
          </p:cNvPr>
          <p:cNvSpPr txBox="1"/>
          <p:nvPr/>
        </p:nvSpPr>
        <p:spPr>
          <a:xfrm>
            <a:off x="873211" y="436605"/>
            <a:ext cx="469556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sl-SI" dirty="0"/>
              <a:t>ENSG00000118137, apolipoprotein A1</a:t>
            </a:r>
            <a:endParaRPr lang="sl-SI" b="1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2F184EB-C476-A3F8-B75A-84C041080989}"/>
              </a:ext>
            </a:extLst>
          </p:cNvPr>
          <p:cNvSpPr txBox="1"/>
          <p:nvPr/>
        </p:nvSpPr>
        <p:spPr>
          <a:xfrm>
            <a:off x="736625" y="805937"/>
            <a:ext cx="8512879" cy="31085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sl-SI" sz="1600" dirty="0"/>
              <a:t>-Podsistem: /</a:t>
            </a:r>
          </a:p>
          <a:p>
            <a:r>
              <a:rPr lang="sl-SI" sz="1600" dirty="0"/>
              <a:t>-AUC: / </a:t>
            </a:r>
          </a:p>
          <a:p>
            <a:r>
              <a:rPr lang="sl-SI" sz="1600" dirty="0"/>
              <a:t>-wilcox_padj: /</a:t>
            </a:r>
          </a:p>
          <a:p>
            <a:r>
              <a:rPr lang="sl-SI" sz="1600" dirty="0"/>
              <a:t>-DESeq2_padj: 8.547833e-127</a:t>
            </a:r>
          </a:p>
          <a:p>
            <a:r>
              <a:rPr lang="sl-SI" sz="1600" dirty="0"/>
              <a:t>-DESeq2_log2FC: -7.506688</a:t>
            </a:r>
          </a:p>
          <a:p>
            <a:endParaRPr lang="sl-SI" sz="1600" dirty="0"/>
          </a:p>
          <a:p>
            <a:endParaRPr lang="sl-SI" sz="1600" dirty="0"/>
          </a:p>
          <a:p>
            <a:r>
              <a:rPr lang="sl-SI" sz="1600" dirty="0"/>
              <a:t>-Uniprot: </a:t>
            </a:r>
            <a:r>
              <a:rPr lang="sl-SI" b="1" dirty="0"/>
              <a:t>P02647 </a:t>
            </a:r>
            <a:r>
              <a:rPr lang="sl-SI" sz="1600" b="1" dirty="0"/>
              <a:t>  </a:t>
            </a:r>
          </a:p>
          <a:p>
            <a:r>
              <a:rPr lang="sl-SI" sz="1600" dirty="0"/>
              <a:t>-sodeluje pri transportu holesterola iz tkiv v jetra (kot kofar holesterol aciltransferaze).</a:t>
            </a:r>
          </a:p>
          <a:p>
            <a:r>
              <a:rPr lang="sl-SI" sz="1600" dirty="0"/>
              <a:t>V tumorskih celicah je manj apolipoproteina -&gt; kopičenje lipidov in holesterola v celici, vnetni znaki… Preveriti s fluxi</a:t>
            </a:r>
          </a:p>
          <a:p>
            <a:endParaRPr lang="sl-SI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3671859-54AA-72A6-6D72-4125FF7999D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92636" y="1514451"/>
            <a:ext cx="302421" cy="302421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87C715DF-B6E3-BACB-F6DD-1EB9CEE9211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41425" y="1816872"/>
            <a:ext cx="302421" cy="302421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00D703BA-6196-BFF1-D50B-9F693E120D4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99654" y="1083399"/>
            <a:ext cx="302421" cy="302421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B14CC854-9BFD-10FB-7944-9A08D21A6DC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13102" y="1315431"/>
            <a:ext cx="302421" cy="302421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9DA4FDB4-2CB7-9563-679B-D48D99646E30}"/>
                  </a:ext>
                </a:extLst>
              </p:cNvPr>
              <p:cNvSpPr txBox="1"/>
              <p:nvPr/>
            </p:nvSpPr>
            <p:spPr>
              <a:xfrm>
                <a:off x="9997323" y="62102"/>
                <a:ext cx="2194677" cy="49167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sl-SI" dirty="0"/>
                  <a:t>log2FC=log</a:t>
                </a:r>
                <a:r>
                  <a:rPr lang="sl-SI" sz="1000" dirty="0"/>
                  <a:t>2</a:t>
                </a:r>
                <a:r>
                  <a:rPr lang="sl-SI" dirty="0"/>
                  <a:t>(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sl-SI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sl-SI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sl-SI" i="1">
                                <a:latin typeface="Cambria Math" panose="02040503050406030204" pitchFamily="18" charset="0"/>
                              </a:rPr>
                              <m:t>𝜇</m:t>
                            </m:r>
                          </m:e>
                          <m:sub>
                            <m:r>
                              <a:rPr lang="sl-SI" i="1">
                                <a:latin typeface="Cambria Math" panose="02040503050406030204" pitchFamily="18" charset="0"/>
                              </a:rPr>
                              <m:t>𝑡𝑢𝑚𝑜𝑟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sl-SI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sl-SI" i="1">
                                <a:latin typeface="Cambria Math" panose="02040503050406030204" pitchFamily="18" charset="0"/>
                              </a:rPr>
                              <m:t>𝜇</m:t>
                            </m:r>
                          </m:e>
                          <m:sub>
                            <m:r>
                              <a:rPr lang="sl-SI" i="1">
                                <a:latin typeface="Cambria Math" panose="02040503050406030204" pitchFamily="18" charset="0"/>
                              </a:rPr>
                              <m:t>𝑧𝑑𝑟𝑎𝑣</m:t>
                            </m:r>
                          </m:sub>
                        </m:sSub>
                      </m:den>
                    </m:f>
                  </m:oMath>
                </a14:m>
                <a:r>
                  <a:rPr lang="sl-SI" dirty="0"/>
                  <a:t>) </a:t>
                </a:r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9DA4FDB4-2CB7-9563-679B-D48D99646E3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997323" y="62102"/>
                <a:ext cx="2194677" cy="491673"/>
              </a:xfrm>
              <a:prstGeom prst="rect">
                <a:avLst/>
              </a:prstGeom>
              <a:blipFill>
                <a:blip r:embed="rId4"/>
                <a:stretch>
                  <a:fillRect l="-2500" b="-2469"/>
                </a:stretch>
              </a:blipFill>
            </p:spPr>
            <p:txBody>
              <a:bodyPr/>
              <a:lstStyle/>
              <a:p>
                <a:r>
                  <a:rPr lang="sl-SI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532365714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F2CDA18-BB41-0564-24BA-095C1DD6843B}"/>
              </a:ext>
            </a:extLst>
          </p:cNvPr>
          <p:cNvSpPr txBox="1"/>
          <p:nvPr/>
        </p:nvSpPr>
        <p:spPr>
          <a:xfrm>
            <a:off x="774357" y="1268627"/>
            <a:ext cx="4744995" cy="3789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sl-SI" dirty="0"/>
              <a:t>Counts z DESeq2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7197A0A-134D-49D4-EEA1-E003ADA751F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5775" y="1746807"/>
            <a:ext cx="5610225" cy="4352925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DEF53DB5-7C54-69D3-3735-18CE31F3281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32505" y="1746811"/>
            <a:ext cx="5608806" cy="4352921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FC932447-2D91-C05D-1E27-28285F78BB85}"/>
              </a:ext>
            </a:extLst>
          </p:cNvPr>
          <p:cNvSpPr txBox="1"/>
          <p:nvPr/>
        </p:nvSpPr>
        <p:spPr>
          <a:xfrm>
            <a:off x="6330779" y="1198605"/>
            <a:ext cx="4744995" cy="3789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sl-SI" dirty="0"/>
              <a:t>Counts brez DESeq2</a:t>
            </a:r>
          </a:p>
        </p:txBody>
      </p:sp>
    </p:spTree>
    <p:extLst>
      <p:ext uri="{BB962C8B-B14F-4D97-AF65-F5344CB8AC3E}">
        <p14:creationId xmlns:p14="http://schemas.microsoft.com/office/powerpoint/2010/main" val="327404006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22125EE5-1614-3D02-3391-F99D6E15539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95447" y="884221"/>
            <a:ext cx="5693874" cy="4417828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3D0F6D16-D960-B866-6233-3624A81E83FE}"/>
              </a:ext>
            </a:extLst>
          </p:cNvPr>
          <p:cNvSpPr txBox="1"/>
          <p:nvPr/>
        </p:nvSpPr>
        <p:spPr>
          <a:xfrm>
            <a:off x="626078" y="440723"/>
            <a:ext cx="242192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sl-SI" dirty="0"/>
              <a:t>Counts z DESeq2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E835575-3DB9-DE3E-68C2-930D91A99342}"/>
              </a:ext>
            </a:extLst>
          </p:cNvPr>
          <p:cNvSpPr txBox="1"/>
          <p:nvPr/>
        </p:nvSpPr>
        <p:spPr>
          <a:xfrm>
            <a:off x="6956855" y="440723"/>
            <a:ext cx="242192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sl-SI" dirty="0"/>
              <a:t>Counts BREZ DESeq2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0B7DC59-7F91-E37D-945A-A2946494578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9914" y="949124"/>
            <a:ext cx="5610225" cy="4352925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95739EE2-6A81-78C6-C6EA-A1FFC4561D1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8733" y="5441118"/>
            <a:ext cx="3533729" cy="2672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1632048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5391259-41D3-1A6E-33FB-F3083FC32EB4}"/>
              </a:ext>
            </a:extLst>
          </p:cNvPr>
          <p:cNvSpPr txBox="1"/>
          <p:nvPr/>
        </p:nvSpPr>
        <p:spPr>
          <a:xfrm>
            <a:off x="617838" y="461319"/>
            <a:ext cx="52475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sl-SI" dirty="0"/>
              <a:t>Povzetek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F7AD8C3-1A9A-C7C7-E889-52CAB65BBA16}"/>
              </a:ext>
            </a:extLst>
          </p:cNvPr>
          <p:cNvSpPr txBox="1"/>
          <p:nvPr/>
        </p:nvSpPr>
        <p:spPr>
          <a:xfrm>
            <a:off x="617838" y="961941"/>
            <a:ext cx="356758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sl-SI" sz="1600" dirty="0"/>
              <a:t>ENSG00000100994, </a:t>
            </a:r>
          </a:p>
          <a:p>
            <a:r>
              <a:rPr lang="sl-SI" sz="1600" dirty="0"/>
              <a:t>glikogen fosforilaza B (brain form)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200708B-2B0C-F64B-C6DA-D7DB816F753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6922" y="1930402"/>
            <a:ext cx="3871377" cy="2997195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B76B81EA-DFA2-C98D-DF0B-0C7D6D19F5F5}"/>
              </a:ext>
            </a:extLst>
          </p:cNvPr>
          <p:cNvSpPr txBox="1"/>
          <p:nvPr/>
        </p:nvSpPr>
        <p:spPr>
          <a:xfrm>
            <a:off x="752101" y="5896059"/>
            <a:ext cx="151330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sl-SI" dirty="0"/>
              <a:t>DESeq2</a:t>
            </a:r>
          </a:p>
          <a:p>
            <a:r>
              <a:rPr lang="sl-SI" dirty="0"/>
              <a:t>log2TPM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1D0B72C-EBD6-BB23-4A02-D68287D5904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02095" y="5916803"/>
            <a:ext cx="302421" cy="302421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60C8D316-7948-A5C0-EBBE-A283EB337D4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02095" y="6219224"/>
            <a:ext cx="302421" cy="302421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91FDB83A-810B-2280-A2D6-C0C5589EC814}"/>
              </a:ext>
            </a:extLst>
          </p:cNvPr>
          <p:cNvSpPr txBox="1"/>
          <p:nvPr/>
        </p:nvSpPr>
        <p:spPr>
          <a:xfrm>
            <a:off x="931853" y="5375517"/>
            <a:ext cx="27572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sl-SI" dirty="0"/>
              <a:t>AUC= 0.93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62AECF7-EF4C-6DC8-27CA-140F34C26A84}"/>
              </a:ext>
            </a:extLst>
          </p:cNvPr>
          <p:cNvSpPr txBox="1"/>
          <p:nvPr/>
        </p:nvSpPr>
        <p:spPr>
          <a:xfrm>
            <a:off x="4258299" y="959273"/>
            <a:ext cx="480996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sl-SI" sz="1600" dirty="0"/>
              <a:t>ENSG00000025423, </a:t>
            </a:r>
          </a:p>
          <a:p>
            <a:r>
              <a:rPr lang="sl-SI" sz="1600" dirty="0"/>
              <a:t>17-beta-hidroksisteroid dehidrogenaza tipa 6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2661C1A5-5637-13EA-31B5-E362C74EF2E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71790" y="1930402"/>
            <a:ext cx="3871377" cy="2997195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1F3A27A6-2A68-013A-0D2D-A933E1A60D97}"/>
              </a:ext>
            </a:extLst>
          </p:cNvPr>
          <p:cNvSpPr txBox="1"/>
          <p:nvPr/>
        </p:nvSpPr>
        <p:spPr>
          <a:xfrm>
            <a:off x="4852087" y="5375517"/>
            <a:ext cx="139219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sl-SI" dirty="0"/>
              <a:t>AUC= 0.88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DF52A31-8A0A-ED75-22ED-10FBC6E1F864}"/>
              </a:ext>
            </a:extLst>
          </p:cNvPr>
          <p:cNvSpPr txBox="1"/>
          <p:nvPr/>
        </p:nvSpPr>
        <p:spPr>
          <a:xfrm>
            <a:off x="4778678" y="5896059"/>
            <a:ext cx="139219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sl-SI" dirty="0"/>
              <a:t>DESeq2</a:t>
            </a:r>
          </a:p>
          <a:p>
            <a:r>
              <a:rPr lang="sl-SI" dirty="0"/>
              <a:t>log2TPM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3F87C52D-9E95-F86C-1A43-8DDF586DFF5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91549" y="6192769"/>
            <a:ext cx="315403" cy="315403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C9B610C7-F9FF-F46C-D751-DB91039C43D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842141" y="6232205"/>
            <a:ext cx="302421" cy="302421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4D596D7B-0BCB-9379-4183-15B8ADACAEF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03611" y="2031404"/>
            <a:ext cx="3681903" cy="2856757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124CD784-BB44-694C-5056-73B53CB0BADB}"/>
              </a:ext>
            </a:extLst>
          </p:cNvPr>
          <p:cNvSpPr txBox="1"/>
          <p:nvPr/>
        </p:nvSpPr>
        <p:spPr>
          <a:xfrm>
            <a:off x="8744129" y="959272"/>
            <a:ext cx="469556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sl-SI" sz="1600" dirty="0"/>
              <a:t>ENSG00000118137, </a:t>
            </a:r>
          </a:p>
          <a:p>
            <a:r>
              <a:rPr lang="sl-SI" sz="1600" dirty="0"/>
              <a:t>apolipoprotein A1</a:t>
            </a:r>
            <a:endParaRPr lang="sl-SI" sz="1600" b="1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6AAA2CA6-6808-1F84-998E-DCFCA3F3DA5F}"/>
              </a:ext>
            </a:extLst>
          </p:cNvPr>
          <p:cNvSpPr txBox="1"/>
          <p:nvPr/>
        </p:nvSpPr>
        <p:spPr>
          <a:xfrm>
            <a:off x="8900984" y="5375517"/>
            <a:ext cx="139219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sl-SI" dirty="0"/>
              <a:t>AUC= 0.59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1342A2E4-E708-E36B-F7A9-11BCDFE88B70}"/>
              </a:ext>
            </a:extLst>
          </p:cNvPr>
          <p:cNvSpPr txBox="1"/>
          <p:nvPr/>
        </p:nvSpPr>
        <p:spPr>
          <a:xfrm>
            <a:off x="8900984" y="5870910"/>
            <a:ext cx="104208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sl-SI" dirty="0"/>
              <a:t>DESeq2</a:t>
            </a:r>
          </a:p>
          <a:p>
            <a:r>
              <a:rPr lang="sl-SI" dirty="0"/>
              <a:t>log2TPM</a:t>
            </a:r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A111041A-827D-3628-748B-0B59B310497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42141" y="5945442"/>
            <a:ext cx="302421" cy="302421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01A0FB71-D77F-1721-BB61-7BC431A048C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80597" y="5883857"/>
            <a:ext cx="315403" cy="3154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24977964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6CCA80E-056E-29CA-1F90-C0D4A8932789}"/>
              </a:ext>
            </a:extLst>
          </p:cNvPr>
          <p:cNvSpPr txBox="1"/>
          <p:nvPr/>
        </p:nvSpPr>
        <p:spPr>
          <a:xfrm>
            <a:off x="518615" y="327546"/>
            <a:ext cx="94920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sl-SI" dirty="0"/>
              <a:t>Naredil sem tudi izračun AUC za vse podsisteme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AF2CB44-5B3C-4BA8-9B60-C49FC410173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4719" y="1008599"/>
            <a:ext cx="7008325" cy="4840802"/>
          </a:xfrm>
          <a:prstGeom prst="rect">
            <a:avLst/>
          </a:prstGeom>
        </p:spPr>
      </p:pic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38FB5FB8-D76E-3618-9BBE-D05ED693A6F5}"/>
              </a:ext>
            </a:extLst>
          </p:cNvPr>
          <p:cNvCxnSpPr/>
          <p:nvPr/>
        </p:nvCxnSpPr>
        <p:spPr>
          <a:xfrm flipH="1">
            <a:off x="7414591" y="921026"/>
            <a:ext cx="1027044" cy="22528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8" name="Picture 7">
            <a:extLst>
              <a:ext uri="{FF2B5EF4-FFF2-40B4-BE49-F238E27FC236}">
                <a16:creationId xmlns:a16="http://schemas.microsoft.com/office/drawing/2014/main" id="{406FD1A6-7661-C26A-3403-358071A2669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56574" y="127034"/>
            <a:ext cx="2616811" cy="2596287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3AB3D912-A954-911A-7ED6-4C46361633A1}"/>
              </a:ext>
            </a:extLst>
          </p:cNvPr>
          <p:cNvSpPr txBox="1"/>
          <p:nvPr/>
        </p:nvSpPr>
        <p:spPr>
          <a:xfrm>
            <a:off x="5396834" y="585312"/>
            <a:ext cx="403551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sl-SI" sz="1200" dirty="0"/>
              <a:t>Glede na največjo normalizirano evklidovo distanco</a:t>
            </a:r>
          </a:p>
        </p:txBody>
      </p:sp>
    </p:spTree>
    <p:extLst>
      <p:ext uri="{BB962C8B-B14F-4D97-AF65-F5344CB8AC3E}">
        <p14:creationId xmlns:p14="http://schemas.microsoft.com/office/powerpoint/2010/main" val="690185501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9D3AFB7-D4E9-0987-7F2D-81C70D001D30}"/>
              </a:ext>
            </a:extLst>
          </p:cNvPr>
          <p:cNvSpPr txBox="1"/>
          <p:nvPr/>
        </p:nvSpPr>
        <p:spPr>
          <a:xfrm>
            <a:off x="1484243" y="298174"/>
            <a:ext cx="525448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sl-SI" dirty="0"/>
              <a:t>Ter izračunal padj wilcoxonovega testa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92B7D35-71E3-AD90-3387-06ABD63C936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4127" y="878512"/>
            <a:ext cx="11564964" cy="58396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5496615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12F9F388-6CA1-DD01-EB97-3ABBA504710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41519" y="1"/>
            <a:ext cx="6304033" cy="3453450"/>
          </a:xfrm>
          <a:prstGeom prst="rect">
            <a:avLst/>
          </a:prstGeom>
          <a:noFill/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331436F6-B875-EB1B-E283-18787E24690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41519" y="3429000"/>
            <a:ext cx="6304033" cy="3551196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1482493299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Rectangle 79">
            <a:extLst>
              <a:ext uri="{FF2B5EF4-FFF2-40B4-BE49-F238E27FC236}">
                <a16:creationId xmlns:a16="http://schemas.microsoft.com/office/drawing/2014/main" id="{AE5A949D-661C-F187-BCD4-C2502028292E}"/>
              </a:ext>
            </a:extLst>
          </p:cNvPr>
          <p:cNvSpPr/>
          <p:nvPr/>
        </p:nvSpPr>
        <p:spPr>
          <a:xfrm>
            <a:off x="9081961" y="3979185"/>
            <a:ext cx="1982379" cy="929521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l-SI" dirty="0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299F2A9F-DF4E-ECEA-BB42-5D0C126C2423}"/>
              </a:ext>
            </a:extLst>
          </p:cNvPr>
          <p:cNvSpPr/>
          <p:nvPr/>
        </p:nvSpPr>
        <p:spPr>
          <a:xfrm>
            <a:off x="9074733" y="5882244"/>
            <a:ext cx="1754133" cy="556364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sl-SI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10195A5D-DF3C-E398-0F99-C970AF3737DB}"/>
              </a:ext>
            </a:extLst>
          </p:cNvPr>
          <p:cNvSpPr/>
          <p:nvPr/>
        </p:nvSpPr>
        <p:spPr>
          <a:xfrm>
            <a:off x="9081961" y="643560"/>
            <a:ext cx="953090" cy="491195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sl-SI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C2547632-0A8F-DBDC-13F0-710C3683B79E}"/>
              </a:ext>
            </a:extLst>
          </p:cNvPr>
          <p:cNvSpPr/>
          <p:nvPr/>
        </p:nvSpPr>
        <p:spPr>
          <a:xfrm>
            <a:off x="405017" y="5882244"/>
            <a:ext cx="1794162" cy="556364"/>
          </a:xfrm>
          <a:prstGeom prst="rect">
            <a:avLst/>
          </a:prstGeom>
          <a:solidFill>
            <a:srgbClr val="2772B7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l-SI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F27CEDA6-F647-0E6E-F4E5-CAEAADA58B4F}"/>
              </a:ext>
            </a:extLst>
          </p:cNvPr>
          <p:cNvSpPr/>
          <p:nvPr/>
        </p:nvSpPr>
        <p:spPr>
          <a:xfrm>
            <a:off x="816881" y="584934"/>
            <a:ext cx="1382298" cy="549821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sl-SI" dirty="0"/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F8B31416-8154-754B-5BC8-A191D0F952DE}"/>
              </a:ext>
            </a:extLst>
          </p:cNvPr>
          <p:cNvSpPr/>
          <p:nvPr/>
        </p:nvSpPr>
        <p:spPr>
          <a:xfrm rot="10800000">
            <a:off x="2591045" y="62819"/>
            <a:ext cx="5889837" cy="6728869"/>
          </a:xfrm>
          <a:prstGeom prst="roundRect">
            <a:avLst/>
          </a:prstGeom>
          <a:gradFill flip="none" rotWithShape="1">
            <a:gsLst>
              <a:gs pos="0">
                <a:srgbClr val="B2B2B2">
                  <a:tint val="66000"/>
                  <a:satMod val="160000"/>
                </a:srgbClr>
              </a:gs>
              <a:gs pos="50000">
                <a:srgbClr val="B2B2B2">
                  <a:tint val="44500"/>
                  <a:satMod val="160000"/>
                </a:srgbClr>
              </a:gs>
              <a:gs pos="100000">
                <a:srgbClr val="B2B2B2">
                  <a:tint val="23500"/>
                  <a:satMod val="160000"/>
                </a:srgbClr>
              </a:gs>
            </a:gsLst>
            <a:lin ang="5400000" scaled="1"/>
            <a:tileRect/>
          </a:gradFill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sl-SI"/>
          </a:p>
        </p:txBody>
      </p:sp>
      <p:sp>
        <p:nvSpPr>
          <p:cNvPr id="43" name="Rectangle: Rounded Corners 42">
            <a:extLst>
              <a:ext uri="{FF2B5EF4-FFF2-40B4-BE49-F238E27FC236}">
                <a16:creationId xmlns:a16="http://schemas.microsoft.com/office/drawing/2014/main" id="{F159B24B-443E-212B-87DF-5D100A20F165}"/>
              </a:ext>
            </a:extLst>
          </p:cNvPr>
          <p:cNvSpPr/>
          <p:nvPr/>
        </p:nvSpPr>
        <p:spPr>
          <a:xfrm>
            <a:off x="3453947" y="243603"/>
            <a:ext cx="4296954" cy="1521084"/>
          </a:xfrm>
          <a:prstGeom prst="roundRect">
            <a:avLst/>
          </a:prstGeom>
          <a:solidFill>
            <a:schemeClr val="bg1">
              <a:alpha val="92157"/>
            </a:schemeClr>
          </a:solidFill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sl-SI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CDF7A03-B78C-9A9D-6045-3C77B31637CF}"/>
              </a:ext>
            </a:extLst>
          </p:cNvPr>
          <p:cNvSpPr txBox="1"/>
          <p:nvPr/>
        </p:nvSpPr>
        <p:spPr>
          <a:xfrm>
            <a:off x="4587895" y="243603"/>
            <a:ext cx="213453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sl-SI" sz="14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Predobdelava podatkov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F1CD64B-4EC3-E3CB-C991-6D6E44E3C0B1}"/>
              </a:ext>
            </a:extLst>
          </p:cNvPr>
          <p:cNvSpPr txBox="1"/>
          <p:nvPr/>
        </p:nvSpPr>
        <p:spPr>
          <a:xfrm>
            <a:off x="626106" y="629011"/>
            <a:ext cx="169773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sl-SI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Metabolni pretoki reakcij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D0D9D4F-D2DA-4845-0E4C-36E216633D79}"/>
              </a:ext>
            </a:extLst>
          </p:cNvPr>
          <p:cNvSpPr txBox="1"/>
          <p:nvPr/>
        </p:nvSpPr>
        <p:spPr>
          <a:xfrm>
            <a:off x="9081961" y="712344"/>
            <a:ext cx="142252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sl-SI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log2TPM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A087C1F-7AA1-8571-B2D4-D66181D926A2}"/>
              </a:ext>
            </a:extLst>
          </p:cNvPr>
          <p:cNvSpPr txBox="1"/>
          <p:nvPr/>
        </p:nvSpPr>
        <p:spPr>
          <a:xfrm>
            <a:off x="455420" y="5991306"/>
            <a:ext cx="169335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sl-SI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Metabolne značilke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5E4DC3A-E077-B5C2-DD3B-74D27767AAFF}"/>
              </a:ext>
            </a:extLst>
          </p:cNvPr>
          <p:cNvSpPr txBox="1"/>
          <p:nvPr/>
        </p:nvSpPr>
        <p:spPr>
          <a:xfrm>
            <a:off x="9104427" y="5915388"/>
            <a:ext cx="167030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sl-SI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Transkriptomske značilke</a:t>
            </a:r>
          </a:p>
        </p:txBody>
      </p: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E7B04C65-2ED2-6C1B-39E5-7EA5CC3ED348}"/>
              </a:ext>
            </a:extLst>
          </p:cNvPr>
          <p:cNvCxnSpPr>
            <a:cxnSpLocks/>
          </p:cNvCxnSpPr>
          <p:nvPr/>
        </p:nvCxnSpPr>
        <p:spPr>
          <a:xfrm>
            <a:off x="5637029" y="1822411"/>
            <a:ext cx="0" cy="324027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DDB23ECE-9C14-14E3-29D3-E57636F55F09}"/>
              </a:ext>
            </a:extLst>
          </p:cNvPr>
          <p:cNvCxnSpPr>
            <a:cxnSpLocks/>
          </p:cNvCxnSpPr>
          <p:nvPr/>
        </p:nvCxnSpPr>
        <p:spPr>
          <a:xfrm>
            <a:off x="5646381" y="3053080"/>
            <a:ext cx="0" cy="37592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3F6A974D-A51E-1AAC-DEF8-B0544EF9A7A4}"/>
              </a:ext>
            </a:extLst>
          </p:cNvPr>
          <p:cNvCxnSpPr>
            <a:cxnSpLocks/>
          </p:cNvCxnSpPr>
          <p:nvPr/>
        </p:nvCxnSpPr>
        <p:spPr>
          <a:xfrm>
            <a:off x="5646381" y="5292480"/>
            <a:ext cx="0" cy="31258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Arrow: Right 27">
            <a:extLst>
              <a:ext uri="{FF2B5EF4-FFF2-40B4-BE49-F238E27FC236}">
                <a16:creationId xmlns:a16="http://schemas.microsoft.com/office/drawing/2014/main" id="{24B42B1A-DBD3-DFD2-4756-D5356B30F2E1}"/>
              </a:ext>
            </a:extLst>
          </p:cNvPr>
          <p:cNvSpPr/>
          <p:nvPr/>
        </p:nvSpPr>
        <p:spPr>
          <a:xfrm>
            <a:off x="2252424" y="666637"/>
            <a:ext cx="1126082" cy="437092"/>
          </a:xfrm>
          <a:prstGeom prst="rightArrow">
            <a:avLst/>
          </a:prstGeom>
          <a:solidFill>
            <a:schemeClr val="tx2">
              <a:lumMod val="25000"/>
              <a:lumOff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l-SI"/>
          </a:p>
        </p:txBody>
      </p:sp>
      <p:sp>
        <p:nvSpPr>
          <p:cNvPr id="30" name="Arrow: Down 29">
            <a:extLst>
              <a:ext uri="{FF2B5EF4-FFF2-40B4-BE49-F238E27FC236}">
                <a16:creationId xmlns:a16="http://schemas.microsoft.com/office/drawing/2014/main" id="{943E16E3-BE63-1C2C-79F6-17BE7410228A}"/>
              </a:ext>
            </a:extLst>
          </p:cNvPr>
          <p:cNvSpPr/>
          <p:nvPr/>
        </p:nvSpPr>
        <p:spPr>
          <a:xfrm rot="5400000">
            <a:off x="2576597" y="5558068"/>
            <a:ext cx="488725" cy="1137077"/>
          </a:xfrm>
          <a:prstGeom prst="downArrow">
            <a:avLst/>
          </a:prstGeom>
          <a:solidFill>
            <a:srgbClr val="2772B7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l-SI"/>
          </a:p>
        </p:txBody>
      </p:sp>
      <p:sp>
        <p:nvSpPr>
          <p:cNvPr id="34" name="Arrow: Right 33">
            <a:extLst>
              <a:ext uri="{FF2B5EF4-FFF2-40B4-BE49-F238E27FC236}">
                <a16:creationId xmlns:a16="http://schemas.microsoft.com/office/drawing/2014/main" id="{2760D73D-1DC6-2163-0830-3BFD8A62B50B}"/>
              </a:ext>
            </a:extLst>
          </p:cNvPr>
          <p:cNvSpPr/>
          <p:nvPr/>
        </p:nvSpPr>
        <p:spPr>
          <a:xfrm rot="10800000">
            <a:off x="7828505" y="665708"/>
            <a:ext cx="1178015" cy="438021"/>
          </a:xfrm>
          <a:prstGeom prst="rightArrow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l-SI"/>
          </a:p>
        </p:txBody>
      </p:sp>
      <p:sp>
        <p:nvSpPr>
          <p:cNvPr id="36" name="Arrow: Down 35">
            <a:extLst>
              <a:ext uri="{FF2B5EF4-FFF2-40B4-BE49-F238E27FC236}">
                <a16:creationId xmlns:a16="http://schemas.microsoft.com/office/drawing/2014/main" id="{A9DFA8B1-369D-CE1E-4608-D87A44156913}"/>
              </a:ext>
            </a:extLst>
          </p:cNvPr>
          <p:cNvSpPr/>
          <p:nvPr/>
        </p:nvSpPr>
        <p:spPr>
          <a:xfrm rot="16200000">
            <a:off x="8169599" y="5534047"/>
            <a:ext cx="488723" cy="1185118"/>
          </a:xfrm>
          <a:prstGeom prst="downArrow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l-SI" dirty="0"/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8423F1BE-0414-11EB-3A55-85EC2EC600CE}"/>
              </a:ext>
            </a:extLst>
          </p:cNvPr>
          <p:cNvSpPr txBox="1"/>
          <p:nvPr/>
        </p:nvSpPr>
        <p:spPr>
          <a:xfrm>
            <a:off x="5940458" y="878944"/>
            <a:ext cx="16731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sl-SI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-Povprečenje vrednosti podvojenih ENSG zapisov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00A24025-E9DD-28FA-E620-796D5D43D038}"/>
              </a:ext>
            </a:extLst>
          </p:cNvPr>
          <p:cNvSpPr txBox="1"/>
          <p:nvPr/>
        </p:nvSpPr>
        <p:spPr>
          <a:xfrm>
            <a:off x="3717129" y="884718"/>
            <a:ext cx="1960147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sl-SI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-Združitev vzorcev v skupno matriko pretokov,</a:t>
            </a:r>
          </a:p>
          <a:p>
            <a:r>
              <a:rPr lang="sl-SI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-Pripis vrednosti 0 manjkajočim reakcijam,</a:t>
            </a:r>
          </a:p>
          <a:p>
            <a:endParaRPr lang="sl-SI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4629B97D-089C-4240-DF61-A9B583D45B8F}"/>
              </a:ext>
            </a:extLst>
          </p:cNvPr>
          <p:cNvSpPr txBox="1"/>
          <p:nvPr/>
        </p:nvSpPr>
        <p:spPr>
          <a:xfrm>
            <a:off x="3894973" y="604010"/>
            <a:ext cx="383890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sl-SI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Povprečenje več vzorcev istega tipa pri 52 pacientih.</a:t>
            </a:r>
          </a:p>
        </p:txBody>
      </p:sp>
      <p:sp>
        <p:nvSpPr>
          <p:cNvPr id="57" name="Rectangle: Rounded Corners 56">
            <a:extLst>
              <a:ext uri="{FF2B5EF4-FFF2-40B4-BE49-F238E27FC236}">
                <a16:creationId xmlns:a16="http://schemas.microsoft.com/office/drawing/2014/main" id="{348D146E-D014-9244-67D5-0C9DC210542D}"/>
              </a:ext>
            </a:extLst>
          </p:cNvPr>
          <p:cNvSpPr/>
          <p:nvPr/>
        </p:nvSpPr>
        <p:spPr>
          <a:xfrm>
            <a:off x="3843279" y="2205533"/>
            <a:ext cx="3720804" cy="805472"/>
          </a:xfrm>
          <a:prstGeom prst="roundRect">
            <a:avLst/>
          </a:prstGeom>
          <a:solidFill>
            <a:schemeClr val="bg1"/>
          </a:solidFill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sl-SI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2B11A7D-A016-A883-2CEE-FD4BF2BBA8BA}"/>
              </a:ext>
            </a:extLst>
          </p:cNvPr>
          <p:cNvSpPr txBox="1"/>
          <p:nvPr/>
        </p:nvSpPr>
        <p:spPr>
          <a:xfrm>
            <a:off x="4366221" y="2234191"/>
            <a:ext cx="256032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sl-SI" sz="14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Anotacija z modelom Human1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53C57E5B-062F-DA74-E0EE-75DA5C8BA5BD}"/>
              </a:ext>
            </a:extLst>
          </p:cNvPr>
          <p:cNvSpPr txBox="1"/>
          <p:nvPr/>
        </p:nvSpPr>
        <p:spPr>
          <a:xfrm>
            <a:off x="4056651" y="2589342"/>
            <a:ext cx="329405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sl-SI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-Pripis podsistema vsakemu genu oziroma reakciji</a:t>
            </a:r>
          </a:p>
        </p:txBody>
      </p:sp>
      <p:sp>
        <p:nvSpPr>
          <p:cNvPr id="67" name="Rectangle: Rounded Corners 66">
            <a:extLst>
              <a:ext uri="{FF2B5EF4-FFF2-40B4-BE49-F238E27FC236}">
                <a16:creationId xmlns:a16="http://schemas.microsoft.com/office/drawing/2014/main" id="{78E793B0-F930-F553-77A8-D57D1B19597A}"/>
              </a:ext>
            </a:extLst>
          </p:cNvPr>
          <p:cNvSpPr/>
          <p:nvPr/>
        </p:nvSpPr>
        <p:spPr>
          <a:xfrm>
            <a:off x="3455028" y="3465473"/>
            <a:ext cx="4296956" cy="1702602"/>
          </a:xfrm>
          <a:prstGeom prst="roundRect">
            <a:avLst/>
          </a:prstGeom>
          <a:solidFill>
            <a:schemeClr val="bg1"/>
          </a:solidFill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sl-SI" dirty="0"/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B0F0B661-D116-AD4C-7641-34ADBD9001AD}"/>
              </a:ext>
            </a:extLst>
          </p:cNvPr>
          <p:cNvSpPr txBox="1"/>
          <p:nvPr/>
        </p:nvSpPr>
        <p:spPr>
          <a:xfrm>
            <a:off x="4002099" y="3527661"/>
            <a:ext cx="320279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sl-SI" sz="14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Normalizirana Evklidska razdalja (RMSD)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C89E7EAD-775A-2CC4-3B7F-DAE26FC97C48}"/>
              </a:ext>
            </a:extLst>
          </p:cNvPr>
          <p:cNvSpPr txBox="1"/>
          <p:nvPr/>
        </p:nvSpPr>
        <p:spPr>
          <a:xfrm>
            <a:off x="3843277" y="4179658"/>
            <a:ext cx="372080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sl-SI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-Izračun RMSD za vsak podsistem,</a:t>
            </a:r>
          </a:p>
          <a:p>
            <a:r>
              <a:rPr lang="sl-SI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-Rangiranje podsistema glede na mediano RMSD</a:t>
            </a:r>
          </a:p>
        </p:txBody>
      </p:sp>
      <p:sp>
        <p:nvSpPr>
          <p:cNvPr id="78" name="Arrow: Right 77">
            <a:extLst>
              <a:ext uri="{FF2B5EF4-FFF2-40B4-BE49-F238E27FC236}">
                <a16:creationId xmlns:a16="http://schemas.microsoft.com/office/drawing/2014/main" id="{09D8D0E8-2FF9-8CFF-EDF1-54803A1B50ED}"/>
              </a:ext>
            </a:extLst>
          </p:cNvPr>
          <p:cNvSpPr/>
          <p:nvPr/>
        </p:nvSpPr>
        <p:spPr>
          <a:xfrm>
            <a:off x="7823221" y="4180217"/>
            <a:ext cx="1194929" cy="438022"/>
          </a:xfrm>
          <a:prstGeom prst="rightArrow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l-SI"/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3334B6DA-5A41-A080-9396-F3DC127EB2FC}"/>
              </a:ext>
            </a:extLst>
          </p:cNvPr>
          <p:cNvSpPr txBox="1"/>
          <p:nvPr/>
        </p:nvSpPr>
        <p:spPr>
          <a:xfrm>
            <a:off x="9074734" y="4054383"/>
            <a:ext cx="2053893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sl-SI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Spremenjenost podsistemov na transkriptomski ravni</a:t>
            </a:r>
          </a:p>
        </p:txBody>
      </p:sp>
      <p:sp>
        <p:nvSpPr>
          <p:cNvPr id="81" name="Arrow: Right 80">
            <a:extLst>
              <a:ext uri="{FF2B5EF4-FFF2-40B4-BE49-F238E27FC236}">
                <a16:creationId xmlns:a16="http://schemas.microsoft.com/office/drawing/2014/main" id="{D681B8BF-94CF-766C-335B-CBAD345B26B4}"/>
              </a:ext>
            </a:extLst>
          </p:cNvPr>
          <p:cNvSpPr/>
          <p:nvPr/>
        </p:nvSpPr>
        <p:spPr>
          <a:xfrm rot="10800000">
            <a:off x="2252423" y="4180217"/>
            <a:ext cx="1131368" cy="407972"/>
          </a:xfrm>
          <a:prstGeom prst="rightArrow">
            <a:avLst/>
          </a:prstGeom>
          <a:solidFill>
            <a:srgbClr val="6EA7E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l-SI"/>
          </a:p>
        </p:txBody>
      </p:sp>
      <p:sp>
        <p:nvSpPr>
          <p:cNvPr id="85" name="Rectangle 84">
            <a:extLst>
              <a:ext uri="{FF2B5EF4-FFF2-40B4-BE49-F238E27FC236}">
                <a16:creationId xmlns:a16="http://schemas.microsoft.com/office/drawing/2014/main" id="{0BF19EAF-B562-80E2-71AE-4E302B396509}"/>
              </a:ext>
            </a:extLst>
          </p:cNvPr>
          <p:cNvSpPr/>
          <p:nvPr/>
        </p:nvSpPr>
        <p:spPr>
          <a:xfrm>
            <a:off x="763636" y="3979185"/>
            <a:ext cx="1435543" cy="929521"/>
          </a:xfrm>
          <a:prstGeom prst="rect">
            <a:avLst/>
          </a:prstGeom>
          <a:solidFill>
            <a:srgbClr val="6EA7E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l-SI"/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1146002B-49A6-02B6-2057-BBF062B8C3EC}"/>
              </a:ext>
            </a:extLst>
          </p:cNvPr>
          <p:cNvSpPr txBox="1"/>
          <p:nvPr/>
        </p:nvSpPr>
        <p:spPr>
          <a:xfrm>
            <a:off x="448027" y="4065422"/>
            <a:ext cx="2053893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sl-SI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Spremenjenost podsistemov na metabolni ravni</a:t>
            </a:r>
          </a:p>
        </p:txBody>
      </p:sp>
      <p:sp>
        <p:nvSpPr>
          <p:cNvPr id="87" name="Rectangle: Rounded Corners 86">
            <a:extLst>
              <a:ext uri="{FF2B5EF4-FFF2-40B4-BE49-F238E27FC236}">
                <a16:creationId xmlns:a16="http://schemas.microsoft.com/office/drawing/2014/main" id="{C309F4C2-ECC0-B0B4-2E84-93201A4C1AAF}"/>
              </a:ext>
            </a:extLst>
          </p:cNvPr>
          <p:cNvSpPr/>
          <p:nvPr/>
        </p:nvSpPr>
        <p:spPr>
          <a:xfrm>
            <a:off x="3455021" y="5676386"/>
            <a:ext cx="4296956" cy="938011"/>
          </a:xfrm>
          <a:prstGeom prst="roundRect">
            <a:avLst/>
          </a:prstGeom>
          <a:solidFill>
            <a:schemeClr val="bg1"/>
          </a:solidFill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sl-SI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C118F3C-CA07-92C2-E444-739AF8C242B3}"/>
              </a:ext>
            </a:extLst>
          </p:cNvPr>
          <p:cNvSpPr txBox="1"/>
          <p:nvPr/>
        </p:nvSpPr>
        <p:spPr>
          <a:xfrm>
            <a:off x="4366221" y="5655031"/>
            <a:ext cx="256032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sl-SI" sz="14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AUC  +  parni Wilcoxonov test</a:t>
            </a:r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0203DB86-3829-88C4-14FC-61A291C682E8}"/>
              </a:ext>
            </a:extLst>
          </p:cNvPr>
          <p:cNvSpPr txBox="1"/>
          <p:nvPr/>
        </p:nvSpPr>
        <p:spPr>
          <a:xfrm>
            <a:off x="4003381" y="5933028"/>
            <a:ext cx="362208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sl-SI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-Izračun AUC in prilagojenih p-vrednosti Wilcoxonovega testa za posameznih gen oziroma reakcijo </a:t>
            </a:r>
          </a:p>
        </p:txBody>
      </p:sp>
    </p:spTree>
    <p:extLst>
      <p:ext uri="{BB962C8B-B14F-4D97-AF65-F5344CB8AC3E}">
        <p14:creationId xmlns:p14="http://schemas.microsoft.com/office/powerpoint/2010/main" val="56617257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1733</TotalTime>
  <Words>1007</Words>
  <Application>Microsoft Office PowerPoint</Application>
  <PresentationFormat>Widescreen</PresentationFormat>
  <Paragraphs>174</Paragraphs>
  <Slides>36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36</vt:i4>
      </vt:variant>
    </vt:vector>
  </HeadingPairs>
  <TitlesOfParts>
    <vt:vector size="42" baseType="lpstr">
      <vt:lpstr>Aptos</vt:lpstr>
      <vt:lpstr>Aptos Display</vt:lpstr>
      <vt:lpstr>Arial</vt:lpstr>
      <vt:lpstr>Cambria Math</vt:lpstr>
      <vt:lpstr>Times New Roman</vt:lpstr>
      <vt:lpstr>Office Theme</vt:lpstr>
      <vt:lpstr>REZULTATI TPM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Veler, Jakob Urh</dc:creator>
  <cp:lastModifiedBy>Veler, Jakob Urh</cp:lastModifiedBy>
  <cp:revision>24</cp:revision>
  <dcterms:created xsi:type="dcterms:W3CDTF">2026-03-16T13:01:24Z</dcterms:created>
  <dcterms:modified xsi:type="dcterms:W3CDTF">2026-08-14T14:43:17Z</dcterms:modified>
</cp:coreProperties>
</file>