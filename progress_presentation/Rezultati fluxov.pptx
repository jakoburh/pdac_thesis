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10" d="100"/>
          <a:sy n="110" d="100"/>
        </p:scale>
        <p:origin x="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A0C6-2C45-DCB7-5CAF-30189EE98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98CA3-9D50-23EA-5A9C-3BF16D81E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7C45C-27AC-1151-98F6-BA1148E5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4C66A-64A5-74C3-0B6B-7946E6BF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94422-36C0-CF02-5463-A670AEE8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640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CC19-7A38-9E98-9A5F-124749A0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D4FB-927A-C11A-BFDF-88248C700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3E39D-DF6E-50C7-6A60-66104E647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92DF9-FB34-8CC6-8627-FE03719E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92995-7F83-B6F0-9F13-56D63B17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34792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4207-C666-5271-5D0D-FC844D45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3AC3F-EC16-1126-FBA5-471D24BAA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63A5-78C7-29E6-2775-4FA1526B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AB29C-605F-CEC7-24E5-4ADB3C4D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0DF1F-A460-6D98-FFBF-62972B7D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7555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1156-F556-685A-8203-5607EAB9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FB7B3-4C52-639C-F79B-01CE573CF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0995B-714D-C7CB-2918-41F976FB0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CE650-3ED4-A2C9-6790-AA85505B6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74DF4-81C0-7938-EFAD-F9C2D7BF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56E37-3F02-299F-C0A1-158B6BB7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5867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7131-08EC-4705-4652-A3E65D11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0D872-FA76-305C-0C20-97CD8FDBF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B14E8-38BB-739D-8F1A-DA1311415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6190F-8FB0-0034-8F95-E84E63776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A0B55-45B3-7DD7-2FA4-E5451ACCE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42F39-4A55-3DBD-F730-95082CA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66357-3F11-E300-4C9A-3134FB07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EA3E29-0447-D249-F0BC-4B33945C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1618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DDF6-066E-1A1A-158E-ECC5E147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6FD0-DEE6-6CB3-BC32-F2FBDF09B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7E1F6-A9C9-3926-8C16-719126005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E9CF5-319E-07BF-CD10-709B9B90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62716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8F470-E064-CF6F-FF60-2898DDA0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EA53E-5484-5622-C214-84C04C5D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3E875-5F7C-C8E0-5FBF-DE2247B6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2639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C570-537F-438A-F3BA-AEFD3903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27E97-5FF8-F879-CB38-BBD41AE5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F1018-2B24-6B3E-F084-2BAEBD054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77DCE-1544-74CF-1130-0AD43010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EB969-547B-17BB-8485-8E40D2DAF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6507B-8A44-9700-5F9B-D69160E6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6956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2EB7-87D2-AAE2-73D1-1D5958C7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3E00C-4B25-59C4-7799-DB5A24F30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81CED-BA2D-CA0E-D2FF-8D5832687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C0DD5-9071-7671-622C-293C9455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0F21F-FE62-465C-4866-5AEA7334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F52C6-7FDB-119E-4EF2-D1D04763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0790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2DB6-2465-4D66-0BFE-55A3CAF3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2788C-3BCF-07D1-2997-A6190E700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8EE01-29C6-05ED-3199-45188F98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49112-B9E5-B55D-4393-5FD99822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733AD-D33A-4724-7F01-6600D520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470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50C7B-9A27-AF3E-5142-621324247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806F1-32AF-F41B-A4DE-5721FC16F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8D9D1-FBBF-986A-5CF4-32F87C1E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DC2B7-5CBE-3D2D-D579-A5579029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B2FF3-3AA8-CDAB-4A08-DC86BA18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55352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E0F8B-9A31-B419-4BC7-C5342629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7B3B-F939-7747-BEFE-DDA95D757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5DA3E-FF0E-7D57-ACD3-20A2B4EFD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5B692-7664-493D-95B5-4779E8B5EF2A}" type="datetimeFigureOut">
              <a:rPr lang="sl-SI" smtClean="0"/>
              <a:t>12. 07. 2026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4208E-0574-034C-4A49-1F37A0B74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4B7C5-476D-5D01-5996-D32BAA2AD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6A1B1-9274-4B4D-ACD6-76CE67A0F2C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4854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sciencedirect.com/science/article/pii/S030228381000182X?via%3Dihu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sciencedirect.com/science/article/pii/S0968000405000940?via%3Dihub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3E73F-0541-CC93-C6F4-AC50F8D82A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Rezultati fluxov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CB6DF-9CB4-8881-C5B4-DD418109D3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Pipeline analogen log2TPM </a:t>
            </a:r>
          </a:p>
        </p:txBody>
      </p:sp>
    </p:spTree>
    <p:extLst>
      <p:ext uri="{BB962C8B-B14F-4D97-AF65-F5344CB8AC3E}">
        <p14:creationId xmlns:p14="http://schemas.microsoft.com/office/powerpoint/2010/main" val="969031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BE13-50FD-F68A-6A0E-4D2B6E82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Top 10 podsistemov (human1) glede na normalizirano distanco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9D65B-C8EA-7084-A3E5-C1014E29AEB6}"/>
              </a:ext>
            </a:extLst>
          </p:cNvPr>
          <p:cNvSpPr txBox="1"/>
          <p:nvPr/>
        </p:nvSpPr>
        <p:spPr>
          <a:xfrm>
            <a:off x="390887" y="1954442"/>
            <a:ext cx="74478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Fluxi:</a:t>
            </a:r>
          </a:p>
          <a:p>
            <a:r>
              <a:rPr lang="sl-SI" dirty="0"/>
              <a:t>-1 471 reakcij:</a:t>
            </a:r>
          </a:p>
          <a:p>
            <a:r>
              <a:rPr lang="sl-SI" dirty="0"/>
              <a:t>Pentose phosphate pathway</a:t>
            </a:r>
          </a:p>
          <a:p>
            <a:r>
              <a:rPr lang="sl-SI" dirty="0"/>
              <a:t>Glycolysis / Gluconeogenesis</a:t>
            </a:r>
          </a:p>
          <a:p>
            <a:r>
              <a:rPr lang="sl-SI" dirty="0"/>
              <a:t>Pyrimidine metabolism</a:t>
            </a:r>
          </a:p>
          <a:p>
            <a:r>
              <a:rPr lang="sl-SI" dirty="0"/>
              <a:t>Pentose and glucuronate interconversions</a:t>
            </a:r>
          </a:p>
          <a:p>
            <a:r>
              <a:rPr lang="sl-SI" dirty="0"/>
              <a:t>Arginine and proline metabolism</a:t>
            </a:r>
          </a:p>
          <a:p>
            <a:r>
              <a:rPr lang="sl-SI" dirty="0"/>
              <a:t>Exchange/demand reactions</a:t>
            </a:r>
          </a:p>
          <a:p>
            <a:r>
              <a:rPr lang="sl-SI" dirty="0"/>
              <a:t>Alanine, aspartate and glutamate metabolism</a:t>
            </a:r>
          </a:p>
          <a:p>
            <a:r>
              <a:rPr lang="sl-SI" dirty="0">
                <a:highlight>
                  <a:srgbClr val="FFFF00"/>
                </a:highlight>
              </a:rPr>
              <a:t>Miscellaneous</a:t>
            </a:r>
          </a:p>
          <a:p>
            <a:r>
              <a:rPr lang="en-US" dirty="0"/>
              <a:t>Glycine, serine and threonine metabolism</a:t>
            </a:r>
          </a:p>
          <a:p>
            <a:r>
              <a:rPr lang="sl-SI" dirty="0"/>
              <a:t>Tricarboxylic acid cycle and glyoxylate/dicarboxylate metabolism</a:t>
            </a:r>
          </a:p>
          <a:p>
            <a:endParaRPr lang="sl-S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4E5D5C-B8DD-11DC-24A4-05B211159F25}"/>
              </a:ext>
            </a:extLst>
          </p:cNvPr>
          <p:cNvSpPr txBox="1"/>
          <p:nvPr/>
        </p:nvSpPr>
        <p:spPr>
          <a:xfrm>
            <a:off x="7155054" y="1954443"/>
            <a:ext cx="48619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Log2(TPM):</a:t>
            </a:r>
          </a:p>
          <a:p>
            <a:r>
              <a:rPr lang="sl-SI" dirty="0"/>
              <a:t>-352 genov:</a:t>
            </a:r>
          </a:p>
          <a:p>
            <a:r>
              <a:rPr lang="sl-SI" dirty="0"/>
              <a:t>Starch and sucrose metabolism</a:t>
            </a:r>
          </a:p>
          <a:p>
            <a:r>
              <a:rPr lang="sl-SI" dirty="0"/>
              <a:t>Protein modification</a:t>
            </a:r>
          </a:p>
          <a:p>
            <a:r>
              <a:rPr lang="sl-SI" dirty="0"/>
              <a:t>Retinol metabolism</a:t>
            </a:r>
          </a:p>
          <a:p>
            <a:r>
              <a:rPr lang="sl-SI" dirty="0"/>
              <a:t>Vitamin A metabolism</a:t>
            </a:r>
          </a:p>
          <a:p>
            <a:r>
              <a:rPr lang="sl-SI" dirty="0">
                <a:highlight>
                  <a:srgbClr val="FFFF00"/>
                </a:highlight>
              </a:rPr>
              <a:t>Miscellaneous</a:t>
            </a:r>
          </a:p>
          <a:p>
            <a:r>
              <a:rPr lang="sl-SI" dirty="0"/>
              <a:t>Acylglycerides metabolism</a:t>
            </a:r>
          </a:p>
          <a:p>
            <a:r>
              <a:rPr lang="sl-SI" dirty="0"/>
              <a:t>Protein degradation</a:t>
            </a:r>
          </a:p>
          <a:p>
            <a:r>
              <a:rPr lang="sl-SI" dirty="0"/>
              <a:t>Ascorbate and aldarate metabolism</a:t>
            </a:r>
          </a:p>
          <a:p>
            <a:r>
              <a:rPr lang="sl-SI" dirty="0"/>
              <a:t>Protein assembly</a:t>
            </a:r>
          </a:p>
          <a:p>
            <a:r>
              <a:rPr lang="en-US" dirty="0"/>
              <a:t>Formation and hydrolysis of cholesterol esters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266813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E5CC-1F9E-CC9B-EB88-71D231E1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74" y="-84039"/>
            <a:ext cx="10515600" cy="1325563"/>
          </a:xfrm>
        </p:spPr>
        <p:txBody>
          <a:bodyPr/>
          <a:lstStyle/>
          <a:p>
            <a:r>
              <a:rPr lang="sl-SI" dirty="0"/>
              <a:t>Top 10 podsistemov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1B6507-B8A0-BEA3-79C1-F7027BE66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960" y="1088953"/>
            <a:ext cx="6810221" cy="561002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7B72DA-9C7F-1B87-581E-B2752D624325}"/>
              </a:ext>
            </a:extLst>
          </p:cNvPr>
          <p:cNvCxnSpPr>
            <a:cxnSpLocks/>
          </p:cNvCxnSpPr>
          <p:nvPr/>
        </p:nvCxnSpPr>
        <p:spPr>
          <a:xfrm>
            <a:off x="2421960" y="1678024"/>
            <a:ext cx="68102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33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082E4E-BE3F-4FB2-3312-87DB69B54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4" y="967224"/>
            <a:ext cx="6336627" cy="4756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E00E2E-1946-E987-54D0-A26E244A1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64" y="1145435"/>
            <a:ext cx="6084345" cy="456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4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73F98B-2059-DC1B-993A-E43EB73CC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5133" y="1464783"/>
            <a:ext cx="5796867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EDDA76-BF3F-EF27-11D6-E367BE79C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113"/>
            <a:ext cx="6424789" cy="482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1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06AF43-2371-3277-C737-762F1207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064" y="175055"/>
            <a:ext cx="8005872" cy="60094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C8FFE3-AC4A-7A54-840B-554498CAC86D}"/>
              </a:ext>
            </a:extLst>
          </p:cNvPr>
          <p:cNvSpPr txBox="1"/>
          <p:nvPr/>
        </p:nvSpPr>
        <p:spPr>
          <a:xfrm>
            <a:off x="5264426" y="6184552"/>
            <a:ext cx="1663148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AUC=0,8266</a:t>
            </a:r>
          </a:p>
        </p:txBody>
      </p:sp>
    </p:spTree>
    <p:extLst>
      <p:ext uri="{BB962C8B-B14F-4D97-AF65-F5344CB8AC3E}">
        <p14:creationId xmlns:p14="http://schemas.microsoft.com/office/powerpoint/2010/main" val="155205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A4B-6222-5D16-FCEB-C40D5C96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12" y="567550"/>
            <a:ext cx="10515600" cy="1325563"/>
          </a:xfrm>
        </p:spPr>
        <p:txBody>
          <a:bodyPr>
            <a:normAutofit/>
          </a:bodyPr>
          <a:lstStyle/>
          <a:p>
            <a:r>
              <a:rPr lang="sl-SI" sz="3200" dirty="0"/>
              <a:t>MAR09131, Exchange of sarcosine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BC81F-6056-FA5A-0C64-A69637E0A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979" y="1893113"/>
            <a:ext cx="8354371" cy="4351338"/>
          </a:xfrm>
        </p:spPr>
        <p:txBody>
          <a:bodyPr>
            <a:normAutofit/>
          </a:bodyPr>
          <a:lstStyle/>
          <a:p>
            <a:r>
              <a:rPr lang="sl-SI" sz="2000" dirty="0"/>
              <a:t>Izmenjava sarkozina/N-metilglicina med celico in okolic</a:t>
            </a:r>
          </a:p>
          <a:p>
            <a:r>
              <a:rPr lang="sl-SI" sz="2000" dirty="0"/>
              <a:t>Tumorska celica glede na ftINIT mora prevzeti več sarkonina kot pa normalne celice</a:t>
            </a:r>
          </a:p>
          <a:p>
            <a:r>
              <a:rPr lang="sl-SI" sz="2000" dirty="0"/>
              <a:t>Glavne funkcije: donor metilne skupine (sinteza nukleotidov in metilacija biomolekul), modulator/regulator transporta nevrotransmiterjev (inhibitor glicinskega transporterja GlyT1)</a:t>
            </a:r>
          </a:p>
          <a:p>
            <a:r>
              <a:rPr lang="sl-SI" sz="2000" dirty="0"/>
              <a:t>Literatura razdvojena glede sarkozina kot marker za raka prostate pri urinski analizi</a:t>
            </a:r>
          </a:p>
          <a:p>
            <a:pPr marL="0" indent="0">
              <a:buNone/>
            </a:pPr>
            <a:r>
              <a:rPr lang="sl-SI" sz="2000" dirty="0"/>
              <a:t>(</a:t>
            </a:r>
            <a:r>
              <a:rPr lang="sl-SI" sz="2000" dirty="0">
                <a:hlinkClick r:id="rId2"/>
              </a:rPr>
              <a:t>https://www.sciencedirect.com/science/article/pii/S030228381000182X?via%3Dihub</a:t>
            </a:r>
            <a:r>
              <a:rPr lang="sl-SI" sz="2000" dirty="0"/>
              <a:t>)</a:t>
            </a:r>
          </a:p>
          <a:p>
            <a:pPr marL="0" indent="0">
              <a:buNone/>
            </a:pPr>
            <a:r>
              <a:rPr lang="sl-SI" sz="2000" dirty="0"/>
              <a:t>HUMAN1 nima asociranega gena s to reakcijo, spada pa v podsistem Exchange/demand reactions -&gt; ni mogoče direktno primerjati z rezultati DESeq2 in log2TPM</a:t>
            </a:r>
          </a:p>
          <a:p>
            <a:pPr marL="0" indent="0">
              <a:buNone/>
            </a:pPr>
            <a:endParaRPr lang="sl-SI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9FAD5-9E5D-37D1-2FEF-641B4388A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139" y="0"/>
            <a:ext cx="2781882" cy="27818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8F05C3-1471-040E-DA87-5D7F02C0A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15" y="175338"/>
            <a:ext cx="9402487" cy="4382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BF71E6-43D8-C638-DCBF-02520213DE70}"/>
              </a:ext>
            </a:extLst>
          </p:cNvPr>
          <p:cNvSpPr txBox="1"/>
          <p:nvPr/>
        </p:nvSpPr>
        <p:spPr>
          <a:xfrm>
            <a:off x="8037040" y="320446"/>
            <a:ext cx="1200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b="1" dirty="0">
                <a:solidFill>
                  <a:srgbClr val="FF0000"/>
                </a:solidFill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1947225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286B03-6468-6A36-C1E0-4885C1BC00C2}"/>
              </a:ext>
            </a:extLst>
          </p:cNvPr>
          <p:cNvSpPr txBox="1"/>
          <p:nvPr/>
        </p:nvSpPr>
        <p:spPr>
          <a:xfrm>
            <a:off x="209151" y="1041436"/>
            <a:ext cx="5811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>
                <a:hlinkClick r:id="rId2"/>
              </a:rPr>
              <a:t>https://www.sciencedirect.com/science/article/pii/S0968000405000940?via%3Dihub</a:t>
            </a:r>
            <a:endParaRPr lang="sl-SI" dirty="0"/>
          </a:p>
          <a:p>
            <a:endParaRPr lang="sl-S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9CE06C-AF7B-052F-D200-8A5C2F1F9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229" y="722506"/>
            <a:ext cx="6031123" cy="277606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9E1B1F-8ECA-8510-7413-4359DFAA8A1D}"/>
              </a:ext>
            </a:extLst>
          </p:cNvPr>
          <p:cNvCxnSpPr/>
          <p:nvPr/>
        </p:nvCxnSpPr>
        <p:spPr>
          <a:xfrm flipV="1">
            <a:off x="2272748" y="2047461"/>
            <a:ext cx="3273287" cy="63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B5CD89-0B7E-841C-279F-757C2D408673}"/>
              </a:ext>
            </a:extLst>
          </p:cNvPr>
          <p:cNvSpPr txBox="1"/>
          <p:nvPr/>
        </p:nvSpPr>
        <p:spPr>
          <a:xfrm>
            <a:off x="46383" y="1964766"/>
            <a:ext cx="2458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Nisem našel študij, ki bi eksplicitno dokazale, da GlyT(glicinski transporterji) transportirajo sarkozin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932C5-3AB7-04B9-4A51-873A82575464}"/>
              </a:ext>
            </a:extLst>
          </p:cNvPr>
          <p:cNvSpPr txBox="1"/>
          <p:nvPr/>
        </p:nvSpPr>
        <p:spPr>
          <a:xfrm>
            <a:off x="46383" y="3748852"/>
            <a:ext cx="9193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ENSG00000196517, Glyt1- značilen glicinski transporter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5358E8-7A4C-9815-2BA1-9D29B9097AF2}"/>
              </a:ext>
            </a:extLst>
          </p:cNvPr>
          <p:cNvSpPr txBox="1"/>
          <p:nvPr/>
        </p:nvSpPr>
        <p:spPr>
          <a:xfrm>
            <a:off x="135080" y="4841049"/>
            <a:ext cx="2899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ENSG00000105711, GlyT2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C4D82D-40D9-1921-4DA9-460AA46EA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80" y="4187251"/>
            <a:ext cx="11536385" cy="600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92418E-884F-EA27-7C30-BBB86112A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3" y="5263808"/>
            <a:ext cx="10821910" cy="6001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FB402E0-57A9-9731-DC4F-F9A3F12E8E4B}"/>
              </a:ext>
            </a:extLst>
          </p:cNvPr>
          <p:cNvSpPr txBox="1"/>
          <p:nvPr/>
        </p:nvSpPr>
        <p:spPr>
          <a:xfrm>
            <a:off x="3347499" y="4840943"/>
            <a:ext cx="439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ENSG00000137210, PAT1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DA5B96-3761-3E3E-8D12-2386E9AD8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23516"/>
            <a:ext cx="11507806" cy="5334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EC037DA-0268-58E8-F491-82C5886DDE27}"/>
              </a:ext>
            </a:extLst>
          </p:cNvPr>
          <p:cNvSpPr txBox="1"/>
          <p:nvPr/>
        </p:nvSpPr>
        <p:spPr>
          <a:xfrm>
            <a:off x="298173" y="5869600"/>
            <a:ext cx="8464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dirty="0"/>
              <a:t>ENSG00000105281, Alanine-serine-cysteine transporter (ASCT2)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3D22EC-2938-297F-DE70-FF730974E39C}"/>
              </a:ext>
            </a:extLst>
          </p:cNvPr>
          <p:cNvCxnSpPr/>
          <p:nvPr/>
        </p:nvCxnSpPr>
        <p:spPr>
          <a:xfrm>
            <a:off x="6774511" y="6050943"/>
            <a:ext cx="12483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8B1176-847C-FAC3-77F1-A8C171D53777}"/>
              </a:ext>
            </a:extLst>
          </p:cNvPr>
          <p:cNvSpPr txBox="1"/>
          <p:nvPr/>
        </p:nvSpPr>
        <p:spPr>
          <a:xfrm>
            <a:off x="8118282" y="5917394"/>
            <a:ext cx="3933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Transport nevtralnih aminokislin (preferenca Glu)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B8968B-137A-499C-DDD3-8D0BE9867BE5}"/>
              </a:ext>
            </a:extLst>
          </p:cNvPr>
          <p:cNvSpPr txBox="1"/>
          <p:nvPr/>
        </p:nvSpPr>
        <p:spPr>
          <a:xfrm>
            <a:off x="209151" y="270344"/>
            <a:ext cx="959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Posredna povezava AUC fluxov z DESeq2 in log2TPM-transporterji</a:t>
            </a:r>
          </a:p>
        </p:txBody>
      </p:sp>
    </p:spTree>
    <p:extLst>
      <p:ext uri="{BB962C8B-B14F-4D97-AF65-F5344CB8AC3E}">
        <p14:creationId xmlns:p14="http://schemas.microsoft.com/office/powerpoint/2010/main" val="8596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6C87AD-51E7-C653-43C2-B6F7FAA13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04" y="1482123"/>
            <a:ext cx="8468907" cy="419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E57343-4786-9520-7C80-76C7DEBF58A1}"/>
              </a:ext>
            </a:extLst>
          </p:cNvPr>
          <p:cNvSpPr txBox="1"/>
          <p:nvPr/>
        </p:nvSpPr>
        <p:spPr>
          <a:xfrm>
            <a:off x="223576" y="1112791"/>
            <a:ext cx="7482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Razgradnja sarkozina v glicin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F7CC6-81B9-8C26-6106-0297C3D03315}"/>
              </a:ext>
            </a:extLst>
          </p:cNvPr>
          <p:cNvSpPr txBox="1"/>
          <p:nvPr/>
        </p:nvSpPr>
        <p:spPr>
          <a:xfrm>
            <a:off x="8658970" y="1507036"/>
            <a:ext cx="186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Ni v human1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CBF05-C1FF-4249-53B1-EA2D31044AFC}"/>
              </a:ext>
            </a:extLst>
          </p:cNvPr>
          <p:cNvSpPr txBox="1"/>
          <p:nvPr/>
        </p:nvSpPr>
        <p:spPr>
          <a:xfrm>
            <a:off x="290204" y="2136714"/>
            <a:ext cx="449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Nastanek sarkozina/metilacija glicina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E2C440-7CF1-4E4C-9C5E-63FB7FD9E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04" y="2506046"/>
            <a:ext cx="8440328" cy="438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4272EE-1862-FF46-3489-0CAA9BC75297}"/>
              </a:ext>
            </a:extLst>
          </p:cNvPr>
          <p:cNvSpPr txBox="1"/>
          <p:nvPr/>
        </p:nvSpPr>
        <p:spPr>
          <a:xfrm>
            <a:off x="8658969" y="2481133"/>
            <a:ext cx="186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Ni v human1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1ED33-6A62-F392-0891-6EB2C5DF3EF8}"/>
              </a:ext>
            </a:extLst>
          </p:cNvPr>
          <p:cNvSpPr txBox="1"/>
          <p:nvPr/>
        </p:nvSpPr>
        <p:spPr>
          <a:xfrm>
            <a:off x="399982" y="273534"/>
            <a:ext cx="1052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Posredna povezava AUC fluxov z DESeq2 in log2TPM-metabolizem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478F8D-8E6F-FE23-04BD-B5B6283D71A6}"/>
              </a:ext>
            </a:extLst>
          </p:cNvPr>
          <p:cNvSpPr txBox="1"/>
          <p:nvPr/>
        </p:nvSpPr>
        <p:spPr>
          <a:xfrm>
            <a:off x="223576" y="3183262"/>
            <a:ext cx="516593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Demetilacija dimetilglicina/nastanek sarkozina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0F1175-86E4-A5D5-72B4-C63C51EE4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76" y="3621473"/>
            <a:ext cx="8849960" cy="4477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D7CEB5-E16B-FB6D-B41A-01E128CAC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" y="4141661"/>
            <a:ext cx="11855394" cy="5025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F6DEE1-9CAE-8179-AF5E-B6706DCC3C0D}"/>
              </a:ext>
            </a:extLst>
          </p:cNvPr>
          <p:cNvSpPr txBox="1"/>
          <p:nvPr/>
        </p:nvSpPr>
        <p:spPr>
          <a:xfrm>
            <a:off x="707666" y="5375877"/>
            <a:ext cx="10217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Nisem našel povezave med difierencialno izraženimi geni (DESeq2), metabolnimi geni (log2TPM) in reakcijo (fluxi) -&gt; zato se bom držal le tistih asociiranih genov v human1</a:t>
            </a:r>
          </a:p>
        </p:txBody>
      </p:sp>
    </p:spTree>
    <p:extLst>
      <p:ext uri="{BB962C8B-B14F-4D97-AF65-F5344CB8AC3E}">
        <p14:creationId xmlns:p14="http://schemas.microsoft.com/office/powerpoint/2010/main" val="327188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D489B-A8E1-5081-5A67-D3AD6BF02581}"/>
              </a:ext>
            </a:extLst>
          </p:cNvPr>
          <p:cNvSpPr txBox="1"/>
          <p:nvPr/>
        </p:nvSpPr>
        <p:spPr>
          <a:xfrm>
            <a:off x="357810" y="311427"/>
            <a:ext cx="890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Vsi podsistemi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86B69-59E5-1F12-DCFA-DBC9BBBEE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61" y="784904"/>
            <a:ext cx="8489969" cy="533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8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3DAF4-ECB0-9495-370A-E8D1D8144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0"/>
            <a:ext cx="6000207" cy="289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4BF608-54BB-8D09-D19B-897CDC7A0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57" y="2890042"/>
            <a:ext cx="9431383" cy="382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23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346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Rezultati fluxov</vt:lpstr>
      <vt:lpstr>Top 10 podsistemov (human1) glede na normalizirano distanco</vt:lpstr>
      <vt:lpstr>Top 10 podsistemov</vt:lpstr>
      <vt:lpstr>PowerPoint Presentation</vt:lpstr>
      <vt:lpstr>PowerPoint Presentation</vt:lpstr>
      <vt:lpstr>PowerPoint Presentation</vt:lpstr>
      <vt:lpstr>MAR09131, Exchange of sarcosine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Veler, Jakob Urh</dc:creator>
  <cp:lastModifiedBy>Veler, Jakob Urh</cp:lastModifiedBy>
  <cp:revision>7</cp:revision>
  <dcterms:created xsi:type="dcterms:W3CDTF">2026-03-31T08:11:15Z</dcterms:created>
  <dcterms:modified xsi:type="dcterms:W3CDTF">2026-07-12T21:03:21Z</dcterms:modified>
</cp:coreProperties>
</file>