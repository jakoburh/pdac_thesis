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57" r:id="rId4"/>
    <p:sldId id="263" r:id="rId5"/>
    <p:sldId id="264" r:id="rId6"/>
    <p:sldId id="265" r:id="rId7"/>
    <p:sldId id="266" r:id="rId8"/>
    <p:sldId id="267" r:id="rId9"/>
    <p:sldId id="258" r:id="rId10"/>
    <p:sldId id="259" r:id="rId11"/>
    <p:sldId id="269" r:id="rId12"/>
    <p:sldId id="268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ro%2017\Desktop\diplomska%20naloga\Jakobb\DESeq2\rezultati%20DESeq2\anotirani_kandidati_human1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ro%2017\Desktop\diplomska%20naloga\Jakobb\DESeq2\rezultati%20DESeq2\anotirani_kandidati_human1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l-SI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anotirani_kandidati_human1!$T$136</c:f>
              <c:strCache>
                <c:ptCount val="1"/>
                <c:pt idx="0">
                  <c:v># of diff. genes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l-S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anotirani_kandidati_human1!$S$137:$S$152</c:f>
              <c:strCache>
                <c:ptCount val="16"/>
                <c:pt idx="0">
                  <c:v>Amino acid metabolism</c:v>
                </c:pt>
                <c:pt idx="1">
                  <c:v>Central carbon metabolism</c:v>
                </c:pt>
                <c:pt idx="2">
                  <c:v>Cofactor </c:v>
                </c:pt>
                <c:pt idx="3">
                  <c:v>Detoxification</c:v>
                </c:pt>
                <c:pt idx="4">
                  <c:v>Glycan metabolism</c:v>
                </c:pt>
                <c:pt idx="5">
                  <c:v>Hormone metabolism</c:v>
                </c:pt>
                <c:pt idx="6">
                  <c:v>Lipid metabolism</c:v>
                </c:pt>
                <c:pt idx="7">
                  <c:v>Nucleotide metabolism</c:v>
                </c:pt>
                <c:pt idx="8">
                  <c:v>Other</c:v>
                </c:pt>
                <c:pt idx="9">
                  <c:v>Proteins</c:v>
                </c:pt>
                <c:pt idx="10">
                  <c:v>Redox metabolism</c:v>
                </c:pt>
                <c:pt idx="11">
                  <c:v>Signaling lipids</c:v>
                </c:pt>
                <c:pt idx="12">
                  <c:v>Transport reactions</c:v>
                </c:pt>
                <c:pt idx="13">
                  <c:v>Unclassified reactions</c:v>
                </c:pt>
                <c:pt idx="14">
                  <c:v>Vitamin metabolism</c:v>
                </c:pt>
                <c:pt idx="15">
                  <c:v>Xenobiotics metabolism</c:v>
                </c:pt>
              </c:strCache>
            </c:strRef>
          </c:cat>
          <c:val>
            <c:numRef>
              <c:f>anotirani_kandidati_human1!$T$137:$T$152</c:f>
              <c:numCache>
                <c:formatCode>General</c:formatCode>
                <c:ptCount val="16"/>
                <c:pt idx="0">
                  <c:v>365</c:v>
                </c:pt>
                <c:pt idx="1">
                  <c:v>198</c:v>
                </c:pt>
                <c:pt idx="2">
                  <c:v>8</c:v>
                </c:pt>
                <c:pt idx="3">
                  <c:v>208</c:v>
                </c:pt>
                <c:pt idx="4">
                  <c:v>110</c:v>
                </c:pt>
                <c:pt idx="5">
                  <c:v>350</c:v>
                </c:pt>
                <c:pt idx="6">
                  <c:v>1129</c:v>
                </c:pt>
                <c:pt idx="7">
                  <c:v>94</c:v>
                </c:pt>
                <c:pt idx="8">
                  <c:v>188</c:v>
                </c:pt>
                <c:pt idx="9">
                  <c:v>53</c:v>
                </c:pt>
                <c:pt idx="10">
                  <c:v>41</c:v>
                </c:pt>
                <c:pt idx="11">
                  <c:v>667</c:v>
                </c:pt>
                <c:pt idx="12">
                  <c:v>1647</c:v>
                </c:pt>
                <c:pt idx="13">
                  <c:v>6459</c:v>
                </c:pt>
                <c:pt idx="14">
                  <c:v>226</c:v>
                </c:pt>
                <c:pt idx="15">
                  <c:v>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22-42C5-8167-2C22F646DB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1047167"/>
        <c:axId val="1241042367"/>
      </c:barChart>
      <c:catAx>
        <c:axId val="12410471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Groupirani metabolni podsistemi human1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1241042367"/>
        <c:crosses val="autoZero"/>
        <c:auto val="1"/>
        <c:lblAlgn val="ctr"/>
        <c:lblOffset val="100"/>
        <c:noMultiLvlLbl val="0"/>
      </c:catAx>
      <c:valAx>
        <c:axId val="1241042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Število</a:t>
                </a:r>
                <a:r>
                  <a:rPr lang="sl-SI" baseline="0"/>
                  <a:t> diferencialnih genov</a:t>
                </a:r>
                <a:endParaRPr lang="sl-SI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124104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l-SI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"genes"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sl-S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anotirani_kandidati_human1!$V$137:$V$151</c:f>
              <c:strCache>
                <c:ptCount val="15"/>
                <c:pt idx="0">
                  <c:v>Amino acid metabolism</c:v>
                </c:pt>
                <c:pt idx="1">
                  <c:v>Central carbon metabolism</c:v>
                </c:pt>
                <c:pt idx="2">
                  <c:v>Cofactor </c:v>
                </c:pt>
                <c:pt idx="3">
                  <c:v>Detoxification</c:v>
                </c:pt>
                <c:pt idx="4">
                  <c:v>Glycan metabolism</c:v>
                </c:pt>
                <c:pt idx="5">
                  <c:v>Hormone metabolism</c:v>
                </c:pt>
                <c:pt idx="6">
                  <c:v>Lipid metabolism</c:v>
                </c:pt>
                <c:pt idx="7">
                  <c:v>Nucleotide metabolism</c:v>
                </c:pt>
                <c:pt idx="8">
                  <c:v>Other</c:v>
                </c:pt>
                <c:pt idx="9">
                  <c:v>Proteins</c:v>
                </c:pt>
                <c:pt idx="10">
                  <c:v>Redox metabolism</c:v>
                </c:pt>
                <c:pt idx="11">
                  <c:v>Signaling lipids</c:v>
                </c:pt>
                <c:pt idx="12">
                  <c:v>Transport reactions</c:v>
                </c:pt>
                <c:pt idx="13">
                  <c:v>Vitamin metabolism</c:v>
                </c:pt>
                <c:pt idx="14">
                  <c:v>Xenobiotics metabolism</c:v>
                </c:pt>
              </c:strCache>
            </c:strRef>
          </c:cat>
          <c:val>
            <c:numRef>
              <c:f>anotirani_kandidati_human1!$X$137:$X$151</c:f>
              <c:numCache>
                <c:formatCode>General</c:formatCode>
                <c:ptCount val="15"/>
                <c:pt idx="0">
                  <c:v>6.4819747824542709E-2</c:v>
                </c:pt>
                <c:pt idx="1">
                  <c:v>3.5162493340436869E-2</c:v>
                </c:pt>
                <c:pt idx="2">
                  <c:v>1.4207068016338128E-3</c:v>
                </c:pt>
                <c:pt idx="3">
                  <c:v>3.693837684247913E-2</c:v>
                </c:pt>
                <c:pt idx="4">
                  <c:v>1.9534718522464925E-2</c:v>
                </c:pt>
                <c:pt idx="5">
                  <c:v>6.2155922571479311E-2</c:v>
                </c:pt>
                <c:pt idx="6">
                  <c:v>0.20049724738057184</c:v>
                </c:pt>
                <c:pt idx="7">
                  <c:v>1.6693304919197301E-2</c:v>
                </c:pt>
                <c:pt idx="8">
                  <c:v>3.3386609838394601E-2</c:v>
                </c:pt>
                <c:pt idx="9">
                  <c:v>9.4121825608240103E-3</c:v>
                </c:pt>
                <c:pt idx="10">
                  <c:v>7.2811223583732904E-3</c:v>
                </c:pt>
                <c:pt idx="11">
                  <c:v>0.11845142958621914</c:v>
                </c:pt>
                <c:pt idx="12">
                  <c:v>0.29248801278636122</c:v>
                </c:pt>
                <c:pt idx="13">
                  <c:v>4.0134967146155213E-2</c:v>
                </c:pt>
                <c:pt idx="14">
                  <c:v>6.1623157520866632E-2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F3-4E22-ABF5-F11E709D18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1047167"/>
        <c:axId val="1241042367"/>
      </c:barChart>
      <c:catAx>
        <c:axId val="12410471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Groupirani metabolni podsistemi human1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1241042367"/>
        <c:crosses val="autoZero"/>
        <c:auto val="1"/>
        <c:lblAlgn val="ctr"/>
        <c:lblOffset val="100"/>
        <c:noMultiLvlLbl val="0"/>
      </c:catAx>
      <c:valAx>
        <c:axId val="1241042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sl-SI"/>
                  <a:t>Delež dif. genov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l-S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l-SI"/>
          </a:p>
        </c:txPr>
        <c:crossAx val="1241047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sl-S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DAAA6-5999-423A-AF10-5E69C42BED16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4B988-04EC-4AD3-AB61-33817F6A8DC9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9209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4B988-04EC-4AD3-AB61-33817F6A8DC9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54762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49FA-A536-92C3-12DA-7F360B001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F5212-818F-9FDF-5EFE-B4AB95B7C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F3092-6CE6-4C59-C72A-DD58957F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BFDC6-01C1-46A6-EE52-0C366449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F275-7DF1-85CF-E0E9-C5A52A33C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3801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0FFBB-6606-DCB9-A686-F30CF79FA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E76A1-D68E-A56C-7C81-9B88AABA0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9302F-B0E2-D3B3-7BAE-85D48FFC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5FC4E-93B2-3BC1-2BAD-84434396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41EB0-C5AA-F571-97BC-6CF665583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9229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50305-580A-EBC2-E63D-200F6CE6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71AA8-D78C-D0C0-424D-F0209EF26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CA921-C141-AA73-52AD-A873D877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DDA56-752D-9F12-1017-32D6473C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6D6D-0307-B3CF-046A-E2B3664E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2899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3797C-DF2A-3AA1-0AF3-0C38580F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F801B-0D2E-70FE-B792-0E504DB6C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5DD93-7961-E87A-7006-BDD7070CC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69DBD-D903-88EE-A342-70D03D25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8D324-C45C-DB9E-6104-0EB54EB3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A16CB-5972-1587-892F-4FF94EDB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4582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F2E19-07C4-FD03-F795-776C31ABF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AF945-A8C7-B9D6-777C-F6F740C4C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5A0D-839E-2A2D-AC91-59E1BD2DC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98885-0D85-3E4C-C56F-9FEB2F7B2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61DDFC-0970-8E48-A2B3-BA1AFF3E4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8B487-D6F6-F64A-6064-C0F45CDBC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69B21-F59A-EF80-521A-FAB860AB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76766D-0A35-2058-0B36-083D6E8C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2080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1D21-AD97-51BF-237F-9C1D19D6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8B6AC-B05A-208F-C6C6-991C2C03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323B90-DF0A-EFBD-E6BE-C852600A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D92CF-6412-BD76-88D7-53C28A37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0746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BC2DD-12B5-37A6-C274-24F6A838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24799-182F-4DA4-8F2B-20D1F31C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2B215-1847-1B03-7A0B-FFB49ECD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1563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45317-5007-2BF9-D181-3FA49A6FC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47C9-C8C5-550F-BB57-149CC87BB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65238-851F-4330-2051-F6A8DCBA1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6F8D3-1531-51DE-07C3-2725A010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C2108-6AAE-867D-509D-866F99778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D3D34-0837-AFAE-723B-47CC8FBD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746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B3DB-F003-01A6-37DA-98DEF01BB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4F9C2-761E-17D6-5859-D46F71A60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1BB82-4FF5-520E-9D81-E4EEF37DC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33432-22CD-8CCA-5E4F-EF0176DFD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92DAE-C6BC-EB29-CB96-1EAA4304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45886-9E79-E022-D3E7-393743A0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11716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2A8E-9D14-F9C5-864B-5D9108C6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5CDAB-C573-8C81-CC88-BE3FED967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60E52-9486-2FEC-4FD5-397D42202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D3679-1D63-3A4D-9F20-539C0E30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12C3A-96F4-F0F5-2705-DFB27F36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6381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BC4C2-5B84-60B9-E20D-27AC78140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44183-4DF9-1986-1162-4F4C4A0D5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AACE6-5A28-3E69-1A7F-D900CA2F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3356B-EFD3-A63C-8F46-D3164F97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FB3EC-9893-8FAC-73D5-F0226BE1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0756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77C95-94F9-49F7-AE28-AE1C5E88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056A8-0B16-214B-2A26-4387C3972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AC227-ADE1-B25B-37B7-24550A78C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0D0D1-405C-401F-B990-01AB553E6F8D}" type="datetimeFigureOut">
              <a:rPr lang="sl-SI" smtClean="0"/>
              <a:t>16. 03. 2026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571F-5D19-F258-1898-E9D87E535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935E4-5972-21E8-5C73-83E2AD1D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67AD3-C792-479C-8CAB-D2EFD2BC5157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6255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6DEE-AD25-A7D7-2177-65438A83E9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Rezultati DESeq2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8650B-70CB-9791-CEDE-9C11B37099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568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E37E-E80D-074E-F931-36CD0FB5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Parametri za spreminjanje rezultatov analize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E0E6-2871-7075-E8E5-8A1A7DAEA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Želimo vedeti, kateri geni se diferencialno izražajo med tumorksimi in zdravimi vzorci.</a:t>
            </a:r>
          </a:p>
          <a:p>
            <a:r>
              <a:rPr lang="sl-SI" dirty="0"/>
              <a:t>Parametri:</a:t>
            </a:r>
          </a:p>
          <a:p>
            <a:pPr marL="0" indent="0">
              <a:buNone/>
            </a:pPr>
            <a:r>
              <a:rPr lang="sl-SI" dirty="0"/>
              <a:t>-izbira podatkov (CPTAC-3, PAAD ali oboje)</a:t>
            </a:r>
          </a:p>
          <a:p>
            <a:pPr marL="0" indent="0">
              <a:buNone/>
            </a:pPr>
            <a:r>
              <a:rPr lang="sl-SI" dirty="0"/>
              <a:t>-izbira p</a:t>
            </a:r>
            <a:r>
              <a:rPr lang="sl-SI" sz="1600" dirty="0"/>
              <a:t>adj</a:t>
            </a:r>
            <a:r>
              <a:rPr lang="sl-SI" dirty="0"/>
              <a:t> (nižje kot je vrednost, bolj signifikantna je razlika)</a:t>
            </a:r>
          </a:p>
          <a:p>
            <a:pPr marL="0" indent="0">
              <a:buNone/>
            </a:pPr>
            <a:r>
              <a:rPr lang="sl-SI" dirty="0"/>
              <a:t>-izbira filtrirne vrednosti(kateri counti se izločijo)-count threshold</a:t>
            </a:r>
          </a:p>
          <a:p>
            <a:pPr marL="0" indent="0">
              <a:buNone/>
            </a:pPr>
            <a:r>
              <a:rPr lang="sl-SI" dirty="0"/>
              <a:t>-izbira meje za log2FC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70AF07-65D7-EFF0-D45A-E5D1FA1EF951}"/>
                  </a:ext>
                </a:extLst>
              </p:cNvPr>
              <p:cNvSpPr txBox="1"/>
              <p:nvPr/>
            </p:nvSpPr>
            <p:spPr>
              <a:xfrm>
                <a:off x="6928383" y="4767445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70AF07-65D7-EFF0-D45A-E5D1FA1EF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383" y="4767445"/>
                <a:ext cx="2194677" cy="491673"/>
              </a:xfrm>
              <a:prstGeom prst="rect">
                <a:avLst/>
              </a:prstGeom>
              <a:blipFill>
                <a:blip r:embed="rId2"/>
                <a:stretch>
                  <a:fillRect l="-2500" b="-1235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491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7B79-F8BD-B8BC-100F-E345611A2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2" y="124782"/>
            <a:ext cx="9738476" cy="556255"/>
          </a:xfrm>
        </p:spPr>
        <p:txBody>
          <a:bodyPr>
            <a:normAutofit/>
          </a:bodyPr>
          <a:lstStyle/>
          <a:p>
            <a:r>
              <a:rPr lang="sl-SI" sz="2800" dirty="0"/>
              <a:t>CPTAC-3 (66 normal, 179 tumor), 60 660 transkriptov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A8866-48A4-0568-F7F7-82F5B5411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52" y="681037"/>
            <a:ext cx="4715675" cy="458013"/>
          </a:xfrm>
        </p:spPr>
        <p:txBody>
          <a:bodyPr>
            <a:normAutofit lnSpcReduction="10000"/>
          </a:bodyPr>
          <a:lstStyle/>
          <a:p>
            <a:r>
              <a:rPr lang="sl-SI" dirty="0"/>
              <a:t>Padj&lt; 0,01       |log2FC| ≥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143B9E-B1BD-F542-C590-5BC151290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211" y="1714398"/>
            <a:ext cx="3466859" cy="1004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F8FF36-AC4E-18F6-29C8-889E61FCFB40}"/>
                  </a:ext>
                </a:extLst>
              </p:cNvPr>
              <p:cNvSpPr txBox="1"/>
              <p:nvPr/>
            </p:nvSpPr>
            <p:spPr>
              <a:xfrm>
                <a:off x="9257553" y="207527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F8FF36-AC4E-18F6-29C8-889E61FCF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553" y="207527"/>
                <a:ext cx="2194677" cy="491673"/>
              </a:xfrm>
              <a:prstGeom prst="rect">
                <a:avLst/>
              </a:prstGeom>
              <a:blipFill>
                <a:blip r:embed="rId3"/>
                <a:stretch>
                  <a:fillRect l="-2500" b="-1235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DDCAC8E-7AF4-EFB0-F378-688CDA753B6E}"/>
              </a:ext>
            </a:extLst>
          </p:cNvPr>
          <p:cNvSpPr txBox="1"/>
          <p:nvPr/>
        </p:nvSpPr>
        <p:spPr>
          <a:xfrm>
            <a:off x="516532" y="1107305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FA34E-0B96-E65F-094F-D9ED9C6DC6A2}"/>
              </a:ext>
            </a:extLst>
          </p:cNvPr>
          <p:cNvSpPr txBox="1"/>
          <p:nvPr/>
        </p:nvSpPr>
        <p:spPr>
          <a:xfrm>
            <a:off x="4783731" y="1107305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E77C2-21AA-A334-A076-3EBC65BD6B87}"/>
              </a:ext>
            </a:extLst>
          </p:cNvPr>
          <p:cNvSpPr txBox="1"/>
          <p:nvPr/>
        </p:nvSpPr>
        <p:spPr>
          <a:xfrm>
            <a:off x="9258592" y="1139050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7EA880-5F29-C988-B29E-197ED1E0AFED}"/>
              </a:ext>
            </a:extLst>
          </p:cNvPr>
          <p:cNvSpPr txBox="1"/>
          <p:nvPr/>
        </p:nvSpPr>
        <p:spPr>
          <a:xfrm>
            <a:off x="208156" y="2852620"/>
            <a:ext cx="302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Odstranilo 3 127 transkriptov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218B79-C067-FF19-B46C-D4AAD5855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007" y="3711802"/>
            <a:ext cx="4106027" cy="30214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EE35D9-8CC0-43D3-6353-62C49B0070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55" y="1728546"/>
            <a:ext cx="3238952" cy="9907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6F8160B-93D3-4AED-E04B-C729A9612E48}"/>
              </a:ext>
            </a:extLst>
          </p:cNvPr>
          <p:cNvSpPr txBox="1"/>
          <p:nvPr/>
        </p:nvSpPr>
        <p:spPr>
          <a:xfrm>
            <a:off x="4082227" y="2843679"/>
            <a:ext cx="302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Odstranilo 6 316 transkriptov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91F8C5-753D-6DEE-A72B-F8E5AE35C7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452" y="3221952"/>
            <a:ext cx="3397952" cy="35521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1B82AE8-489E-2C5E-99DC-063E0D2E6E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451" y="1730291"/>
            <a:ext cx="3343742" cy="10860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B38647F-2087-E1B2-71F8-8A8EF5076B63}"/>
              </a:ext>
            </a:extLst>
          </p:cNvPr>
          <p:cNvSpPr txBox="1"/>
          <p:nvPr/>
        </p:nvSpPr>
        <p:spPr>
          <a:xfrm>
            <a:off x="8179451" y="2852620"/>
            <a:ext cx="302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Odstranilo 7 299 transkriptov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577BA23-0309-CD9A-7D8E-79615FBF67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9451" y="3429000"/>
            <a:ext cx="3102583" cy="3243372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65600E-90DA-07D7-8AB4-9C743822DA91}"/>
              </a:ext>
            </a:extLst>
          </p:cNvPr>
          <p:cNvCxnSpPr/>
          <p:nvPr/>
        </p:nvCxnSpPr>
        <p:spPr>
          <a:xfrm>
            <a:off x="4229100" y="1476637"/>
            <a:ext cx="650027" cy="251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EB3DD8A-2744-47DC-7922-B2AD94A81EE3}"/>
              </a:ext>
            </a:extLst>
          </p:cNvPr>
          <p:cNvSpPr txBox="1"/>
          <p:nvPr/>
        </p:nvSpPr>
        <p:spPr>
          <a:xfrm>
            <a:off x="2714372" y="1231713"/>
            <a:ext cx="2262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Število vseh transkriptov nad thresholdom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B054F4F-6432-D3FD-99B3-C6D085572999}"/>
              </a:ext>
            </a:extLst>
          </p:cNvPr>
          <p:cNvCxnSpPr/>
          <p:nvPr/>
        </p:nvCxnSpPr>
        <p:spPr>
          <a:xfrm flipV="1">
            <a:off x="3511550" y="2171700"/>
            <a:ext cx="570677" cy="547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F666EC-4CAB-F868-1DF9-0AAD20AE87FC}"/>
              </a:ext>
            </a:extLst>
          </p:cNvPr>
          <p:cNvCxnSpPr/>
          <p:nvPr/>
        </p:nvCxnSpPr>
        <p:spPr>
          <a:xfrm flipV="1">
            <a:off x="3561404" y="2343150"/>
            <a:ext cx="520823" cy="376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5F5EAE8-DE61-24CE-B855-CA6B7CA95AB8}"/>
              </a:ext>
            </a:extLst>
          </p:cNvPr>
          <p:cNvSpPr txBox="1"/>
          <p:nvPr/>
        </p:nvSpPr>
        <p:spPr>
          <a:xfrm>
            <a:off x="2590868" y="2687209"/>
            <a:ext cx="22621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Diferencialni transkripti</a:t>
            </a:r>
          </a:p>
        </p:txBody>
      </p:sp>
    </p:spTree>
    <p:extLst>
      <p:ext uri="{BB962C8B-B14F-4D97-AF65-F5344CB8AC3E}">
        <p14:creationId xmlns:p14="http://schemas.microsoft.com/office/powerpoint/2010/main" val="120879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FA56-30E6-ACBD-9BE7-A96BF9F4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28B8-13D2-B646-2BE7-0A19F4081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2" y="124782"/>
            <a:ext cx="9738476" cy="556255"/>
          </a:xfrm>
        </p:spPr>
        <p:txBody>
          <a:bodyPr>
            <a:normAutofit/>
          </a:bodyPr>
          <a:lstStyle/>
          <a:p>
            <a:r>
              <a:rPr lang="sl-SI" sz="2800" dirty="0"/>
              <a:t>CPTAC-3 (66 normal, 179 tumor), 60 660 transkriptov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83DA6-E3BE-A322-6FBD-2BF6F3737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52" y="681037"/>
            <a:ext cx="4715675" cy="458013"/>
          </a:xfrm>
        </p:spPr>
        <p:txBody>
          <a:bodyPr>
            <a:normAutofit lnSpcReduction="10000"/>
          </a:bodyPr>
          <a:lstStyle/>
          <a:p>
            <a:r>
              <a:rPr lang="sl-SI" dirty="0"/>
              <a:t>Padj&lt; 0,01       |log2FC| ≥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EB6D31-1619-A221-1AF7-E99B76ACEBB1}"/>
                  </a:ext>
                </a:extLst>
              </p:cNvPr>
              <p:cNvSpPr txBox="1"/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EB6D31-1619-A221-1AF7-E99B76ACE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blipFill>
                <a:blip r:embed="rId2"/>
                <a:stretch>
                  <a:fillRect l="-2222" b="-2500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83059B6-42C6-A91B-C601-01403179F559}"/>
              </a:ext>
            </a:extLst>
          </p:cNvPr>
          <p:cNvSpPr txBox="1"/>
          <p:nvPr/>
        </p:nvSpPr>
        <p:spPr>
          <a:xfrm>
            <a:off x="516532" y="1107305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EAFEA-A1C0-EE8C-1292-EDFDBF83AF17}"/>
              </a:ext>
            </a:extLst>
          </p:cNvPr>
          <p:cNvSpPr txBox="1"/>
          <p:nvPr/>
        </p:nvSpPr>
        <p:spPr>
          <a:xfrm>
            <a:off x="4783731" y="1107305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BB6B0-F851-D395-661C-2F5B7EB06D8E}"/>
              </a:ext>
            </a:extLst>
          </p:cNvPr>
          <p:cNvSpPr txBox="1"/>
          <p:nvPr/>
        </p:nvSpPr>
        <p:spPr>
          <a:xfrm>
            <a:off x="9258592" y="1139050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B89563-48E5-FCF5-B2BA-D6EB4FD86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854" y="1546534"/>
            <a:ext cx="3980337" cy="41609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A9FD64-F573-FFEA-82A3-6503F2407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4" y="1565318"/>
            <a:ext cx="3980337" cy="4160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85A7A0-F091-8C4B-57EA-4E419F3B9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7008" y="1476637"/>
            <a:ext cx="3893603" cy="407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50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A5F92-0415-1C47-8111-F50F1400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FEDD-3988-E85A-57D7-88C7C35F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2" y="124782"/>
            <a:ext cx="9738476" cy="556255"/>
          </a:xfrm>
        </p:spPr>
        <p:txBody>
          <a:bodyPr>
            <a:normAutofit/>
          </a:bodyPr>
          <a:lstStyle/>
          <a:p>
            <a:r>
              <a:rPr lang="sl-SI" sz="2800" dirty="0"/>
              <a:t>CPTAC-3 (66 normal, 179 tumor), 60 660 transkriptov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CF538-F7FE-CE61-6820-285F07D8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52" y="681037"/>
            <a:ext cx="4715675" cy="458013"/>
          </a:xfrm>
        </p:spPr>
        <p:txBody>
          <a:bodyPr>
            <a:normAutofit lnSpcReduction="10000"/>
          </a:bodyPr>
          <a:lstStyle/>
          <a:p>
            <a:r>
              <a:rPr lang="sl-SI" dirty="0"/>
              <a:t>Padj&lt; 0,01       |log2FC| ≥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B1C33B-BEBC-52E8-039A-5F02E5F7E1BE}"/>
                  </a:ext>
                </a:extLst>
              </p:cNvPr>
              <p:cNvSpPr txBox="1"/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B1C33B-BEBC-52E8-039A-5F02E5F7E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blipFill>
                <a:blip r:embed="rId2"/>
                <a:stretch>
                  <a:fillRect l="-2222" b="-2500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4988BFB-1B40-1B03-F0D7-DEFF283AEACF}"/>
              </a:ext>
            </a:extLst>
          </p:cNvPr>
          <p:cNvSpPr txBox="1"/>
          <p:nvPr/>
        </p:nvSpPr>
        <p:spPr>
          <a:xfrm>
            <a:off x="516532" y="1107305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4E9950-6F8A-1CBF-6185-BC70970F5ABF}"/>
              </a:ext>
            </a:extLst>
          </p:cNvPr>
          <p:cNvSpPr txBox="1"/>
          <p:nvPr/>
        </p:nvSpPr>
        <p:spPr>
          <a:xfrm>
            <a:off x="4783731" y="1107305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FD5F91-AF84-DB01-4A95-880691A095B2}"/>
              </a:ext>
            </a:extLst>
          </p:cNvPr>
          <p:cNvSpPr txBox="1"/>
          <p:nvPr/>
        </p:nvSpPr>
        <p:spPr>
          <a:xfrm>
            <a:off x="9258592" y="1139050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2C014E-844C-DD09-19D5-6F8000BF3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528" y="1695305"/>
            <a:ext cx="4133255" cy="43220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B65312-FF02-0370-8C75-7160107AB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3282"/>
            <a:ext cx="4088528" cy="4274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94179A-1C3E-3F88-9DB0-89E0FC5F7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056" y="1788308"/>
            <a:ext cx="4014944" cy="419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7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10AC4-7A8C-D5F5-8242-8A7EBFD7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236C-3B6F-E501-E919-99C885A6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2" y="124782"/>
            <a:ext cx="9738476" cy="556255"/>
          </a:xfrm>
        </p:spPr>
        <p:txBody>
          <a:bodyPr>
            <a:normAutofit/>
          </a:bodyPr>
          <a:lstStyle/>
          <a:p>
            <a:r>
              <a:rPr lang="sl-SI" sz="2800" dirty="0"/>
              <a:t>CPTAC-3 (66 normal, 179 tumor), 60 660 transkriptov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253B5-86C3-7FD7-4413-A08BA247B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52" y="681037"/>
            <a:ext cx="4715675" cy="458013"/>
          </a:xfrm>
        </p:spPr>
        <p:txBody>
          <a:bodyPr>
            <a:normAutofit lnSpcReduction="10000"/>
          </a:bodyPr>
          <a:lstStyle/>
          <a:p>
            <a:r>
              <a:rPr lang="sl-SI" dirty="0"/>
              <a:t>Padj&lt; 0,01       |log2FC| ≥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994BFA-9449-30DC-4F9C-7D2E82074C57}"/>
                  </a:ext>
                </a:extLst>
              </p:cNvPr>
              <p:cNvSpPr txBox="1"/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994BFA-9449-30DC-4F9C-7D2E82074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blipFill>
                <a:blip r:embed="rId2"/>
                <a:stretch>
                  <a:fillRect l="-2222" b="-2500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555C4B1-7B8C-E6EA-DBD2-EF99C0F6E950}"/>
              </a:ext>
            </a:extLst>
          </p:cNvPr>
          <p:cNvSpPr txBox="1"/>
          <p:nvPr/>
        </p:nvSpPr>
        <p:spPr>
          <a:xfrm>
            <a:off x="301389" y="1232511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380049-38CB-5C43-887C-9458DD5F6B5B}"/>
              </a:ext>
            </a:extLst>
          </p:cNvPr>
          <p:cNvSpPr txBox="1"/>
          <p:nvPr/>
        </p:nvSpPr>
        <p:spPr>
          <a:xfrm>
            <a:off x="9258592" y="1139050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Threshold</a:t>
            </a:r>
            <a:r>
              <a:rPr lang="sl-SI" u="sng" dirty="0"/>
              <a:t>&gt;50</a:t>
            </a:r>
            <a:endParaRPr lang="sl-SI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65CB78-CD31-7674-4C4C-2D05760DF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799" y="1226376"/>
            <a:ext cx="2873114" cy="30034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A77E33-5361-D755-BE45-0F086C68A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89" y="3785837"/>
            <a:ext cx="2819440" cy="29473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FECDDB-5799-956E-A945-CF4276415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291" y="1061912"/>
            <a:ext cx="3139167" cy="32816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F41570-E414-3159-B577-CD6FE1086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436" y="3604378"/>
            <a:ext cx="3055633" cy="31942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1559A4-CB0D-2806-BC93-A038F143EB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440" y="4775204"/>
            <a:ext cx="2873114" cy="8327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704BC0-1A4D-DC48-09C1-B1774A1980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775" y="4775204"/>
            <a:ext cx="2819440" cy="9155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005DA24-E4B0-7593-100D-71E6E39FAA1A}"/>
              </a:ext>
            </a:extLst>
          </p:cNvPr>
          <p:cNvSpPr txBox="1"/>
          <p:nvPr/>
        </p:nvSpPr>
        <p:spPr>
          <a:xfrm>
            <a:off x="3016250" y="5822950"/>
            <a:ext cx="5984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S spreminjanem thresholda se spreminja le velikost dataseta, in vplivamo le na količino šuma. Če je previsok, lahko izgubimo pomembne gene.</a:t>
            </a:r>
          </a:p>
        </p:txBody>
      </p:sp>
    </p:spTree>
    <p:extLst>
      <p:ext uri="{BB962C8B-B14F-4D97-AF65-F5344CB8AC3E}">
        <p14:creationId xmlns:p14="http://schemas.microsoft.com/office/powerpoint/2010/main" val="879228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6348-ACB0-9ACD-08EF-F26301A69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12E2-FAB2-16DD-11BF-1C13EE96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2" y="124782"/>
            <a:ext cx="9738476" cy="556255"/>
          </a:xfrm>
        </p:spPr>
        <p:txBody>
          <a:bodyPr>
            <a:normAutofit/>
          </a:bodyPr>
          <a:lstStyle/>
          <a:p>
            <a:r>
              <a:rPr lang="sl-SI" sz="2800" dirty="0"/>
              <a:t>CPTAC-3 (66 normal, 179 tumor), 60 660 transkriptov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E9F81-D8D8-A8A1-BEA3-65B215BC3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52" y="681037"/>
            <a:ext cx="4715675" cy="458013"/>
          </a:xfrm>
        </p:spPr>
        <p:txBody>
          <a:bodyPr>
            <a:normAutofit lnSpcReduction="10000"/>
          </a:bodyPr>
          <a:lstStyle/>
          <a:p>
            <a:r>
              <a:rPr lang="sl-SI" dirty="0"/>
              <a:t>Padj&lt; 0,01       threshold</a:t>
            </a:r>
            <a:r>
              <a:rPr lang="sl-SI" u="sng" dirty="0"/>
              <a:t>&gt;</a:t>
            </a:r>
            <a:r>
              <a:rPr lang="sl-SI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1FC47-D15C-8DC9-B57F-966A0AC9889B}"/>
                  </a:ext>
                </a:extLst>
              </p:cNvPr>
              <p:cNvSpPr txBox="1"/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1FC47-D15C-8DC9-B57F-966A0AC98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blipFill>
                <a:blip r:embed="rId3"/>
                <a:stretch>
                  <a:fillRect l="-2222" b="-2500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5FD7513-EABE-2EB9-5B78-F166B7126CF9}"/>
              </a:ext>
            </a:extLst>
          </p:cNvPr>
          <p:cNvSpPr txBox="1"/>
          <p:nvPr/>
        </p:nvSpPr>
        <p:spPr>
          <a:xfrm>
            <a:off x="3590192" y="1139050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|log2FC| ≥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72E48-C116-41E3-DBB6-C7087BE277DE}"/>
              </a:ext>
            </a:extLst>
          </p:cNvPr>
          <p:cNvSpPr txBox="1"/>
          <p:nvPr/>
        </p:nvSpPr>
        <p:spPr>
          <a:xfrm>
            <a:off x="296802" y="1139050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|log2FC| ≥ 0,5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9F4DA9-53A0-2A78-3426-76D2EFB680FB}"/>
              </a:ext>
            </a:extLst>
          </p:cNvPr>
          <p:cNvSpPr txBox="1"/>
          <p:nvPr/>
        </p:nvSpPr>
        <p:spPr>
          <a:xfrm>
            <a:off x="6096000" y="1139050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|log2FC| ≥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E8CDBF-8F24-2003-0B58-7CDDF2AAEF1F}"/>
              </a:ext>
            </a:extLst>
          </p:cNvPr>
          <p:cNvSpPr txBox="1"/>
          <p:nvPr/>
        </p:nvSpPr>
        <p:spPr>
          <a:xfrm>
            <a:off x="8866955" y="1139050"/>
            <a:ext cx="180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|log2FC| ≥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969ACA-2F6C-5407-4B29-FA78484B1616}"/>
              </a:ext>
            </a:extLst>
          </p:cNvPr>
          <p:cNvSpPr txBox="1"/>
          <p:nvPr/>
        </p:nvSpPr>
        <p:spPr>
          <a:xfrm>
            <a:off x="3794440" y="6488668"/>
            <a:ext cx="2097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7 341 dif. transkripti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339A67-99D4-E173-F2C3-F51C82453C21}"/>
              </a:ext>
            </a:extLst>
          </p:cNvPr>
          <p:cNvSpPr txBox="1"/>
          <p:nvPr/>
        </p:nvSpPr>
        <p:spPr>
          <a:xfrm>
            <a:off x="3640877" y="5325575"/>
            <a:ext cx="247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25 521 dif. transkripti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141FC0-D165-80DE-5798-3B2BB7A5AC4B}"/>
              </a:ext>
            </a:extLst>
          </p:cNvPr>
          <p:cNvSpPr txBox="1"/>
          <p:nvPr/>
        </p:nvSpPr>
        <p:spPr>
          <a:xfrm>
            <a:off x="473521" y="4698214"/>
            <a:ext cx="2301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54 344 transkriptov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F76ACA-99AC-4A3A-0585-1D35FC56E1F9}"/>
              </a:ext>
            </a:extLst>
          </p:cNvPr>
          <p:cNvSpPr txBox="1"/>
          <p:nvPr/>
        </p:nvSpPr>
        <p:spPr>
          <a:xfrm>
            <a:off x="3730940" y="5941129"/>
            <a:ext cx="192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7 959 dif. transkripti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668E5B-FE95-2A9C-C711-F4E29B2387AA}"/>
              </a:ext>
            </a:extLst>
          </p:cNvPr>
          <p:cNvSpPr txBox="1"/>
          <p:nvPr/>
        </p:nvSpPr>
        <p:spPr>
          <a:xfrm>
            <a:off x="3515552" y="4177056"/>
            <a:ext cx="283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60 660 transkriptov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8FD55E-A92C-786F-F50D-EB05F07DF9ED}"/>
              </a:ext>
            </a:extLst>
          </p:cNvPr>
          <p:cNvCxnSpPr/>
          <p:nvPr/>
        </p:nvCxnSpPr>
        <p:spPr>
          <a:xfrm>
            <a:off x="4229100" y="4484833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947AEB-4373-DA08-8E8C-D0D8C830822B}"/>
              </a:ext>
            </a:extLst>
          </p:cNvPr>
          <p:cNvCxnSpPr/>
          <p:nvPr/>
        </p:nvCxnSpPr>
        <p:spPr>
          <a:xfrm>
            <a:off x="4216400" y="5063141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699346-D0DA-30E1-9205-6A955836C71F}"/>
              </a:ext>
            </a:extLst>
          </p:cNvPr>
          <p:cNvCxnSpPr/>
          <p:nvPr/>
        </p:nvCxnSpPr>
        <p:spPr>
          <a:xfrm>
            <a:off x="4197350" y="5633352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73C1EE3-D1F4-B4A3-8B5A-6C9E665379F8}"/>
              </a:ext>
            </a:extLst>
          </p:cNvPr>
          <p:cNvSpPr txBox="1"/>
          <p:nvPr/>
        </p:nvSpPr>
        <p:spPr>
          <a:xfrm>
            <a:off x="4197350" y="4496443"/>
            <a:ext cx="710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threshold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C817FD-CB65-9070-0F71-F071A642AD02}"/>
              </a:ext>
            </a:extLst>
          </p:cNvPr>
          <p:cNvSpPr txBox="1"/>
          <p:nvPr/>
        </p:nvSpPr>
        <p:spPr>
          <a:xfrm>
            <a:off x="4229100" y="5072067"/>
            <a:ext cx="869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Padj&lt;0,01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3A4F12-9ED8-CFE2-9D33-BB47CE8B8397}"/>
              </a:ext>
            </a:extLst>
          </p:cNvPr>
          <p:cNvSpPr txBox="1"/>
          <p:nvPr/>
        </p:nvSpPr>
        <p:spPr>
          <a:xfrm>
            <a:off x="9316019" y="5651167"/>
            <a:ext cx="1161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|log2FC| ≥ 4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0676912-5863-672C-CDD1-FF9B8D6FB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277" y="1500934"/>
            <a:ext cx="2427525" cy="2537682"/>
          </a:xfrm>
          <a:prstGeom prst="rect">
            <a:avLst/>
          </a:prstGeom>
        </p:spPr>
      </p:pic>
      <p:sp>
        <p:nvSpPr>
          <p:cNvPr id="33" name="AutoShape 2">
            <a:extLst>
              <a:ext uri="{FF2B5EF4-FFF2-40B4-BE49-F238E27FC236}">
                <a16:creationId xmlns:a16="http://schemas.microsoft.com/office/drawing/2014/main" id="{45AA2D44-2CB1-4250-A400-55D8C7444B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7D84308-8A66-2ADA-E1A6-71865027B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9664" y="1508382"/>
            <a:ext cx="2478872" cy="259135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7BDCB87-FBD4-CA10-7722-9FBE3BF473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4990" y="1539504"/>
            <a:ext cx="2427073" cy="253720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4036289-AE0F-CB8D-96B0-88BFE9B4C4AF}"/>
              </a:ext>
            </a:extLst>
          </p:cNvPr>
          <p:cNvSpPr txBox="1"/>
          <p:nvPr/>
        </p:nvSpPr>
        <p:spPr>
          <a:xfrm>
            <a:off x="927100" y="6231297"/>
            <a:ext cx="1161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shrinkage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5036E2-0AF1-30B5-74AE-14B29B31A86E}"/>
              </a:ext>
            </a:extLst>
          </p:cNvPr>
          <p:cNvCxnSpPr/>
          <p:nvPr/>
        </p:nvCxnSpPr>
        <p:spPr>
          <a:xfrm>
            <a:off x="4222750" y="6245224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E10B3A05-C092-D268-D2E3-EE24BE1BC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673" y="1562532"/>
            <a:ext cx="2427073" cy="253720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1ECD054-3CF4-89A8-3C02-63141F7AF50F}"/>
              </a:ext>
            </a:extLst>
          </p:cNvPr>
          <p:cNvSpPr txBox="1"/>
          <p:nvPr/>
        </p:nvSpPr>
        <p:spPr>
          <a:xfrm>
            <a:off x="497258" y="4073917"/>
            <a:ext cx="283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60 660 transkriptov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1E36C6-6F97-2EDC-D708-D48D237F8074}"/>
              </a:ext>
            </a:extLst>
          </p:cNvPr>
          <p:cNvSpPr txBox="1"/>
          <p:nvPr/>
        </p:nvSpPr>
        <p:spPr>
          <a:xfrm>
            <a:off x="5891752" y="4139810"/>
            <a:ext cx="283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60 660 transkriptov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5C0851-1C54-AD97-8E17-36979C189D96}"/>
              </a:ext>
            </a:extLst>
          </p:cNvPr>
          <p:cNvSpPr txBox="1"/>
          <p:nvPr/>
        </p:nvSpPr>
        <p:spPr>
          <a:xfrm>
            <a:off x="8884957" y="4188666"/>
            <a:ext cx="283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60 660 transkriptov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7BC4AF-12EC-6FAC-7C56-CA150CEBC5B0}"/>
              </a:ext>
            </a:extLst>
          </p:cNvPr>
          <p:cNvSpPr txBox="1"/>
          <p:nvPr/>
        </p:nvSpPr>
        <p:spPr>
          <a:xfrm>
            <a:off x="3728346" y="4833132"/>
            <a:ext cx="2301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54 344 transkriptov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DFEF69-FCC2-48C2-2EC4-04E2529DD56A}"/>
              </a:ext>
            </a:extLst>
          </p:cNvPr>
          <p:cNvSpPr txBox="1"/>
          <p:nvPr/>
        </p:nvSpPr>
        <p:spPr>
          <a:xfrm>
            <a:off x="5942172" y="4859480"/>
            <a:ext cx="2301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54 344 transkriptov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F21049-E8A6-CF81-1306-6C846098A83A}"/>
              </a:ext>
            </a:extLst>
          </p:cNvPr>
          <p:cNvSpPr txBox="1"/>
          <p:nvPr/>
        </p:nvSpPr>
        <p:spPr>
          <a:xfrm>
            <a:off x="8751148" y="4833132"/>
            <a:ext cx="2301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54 344 transkriptov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A8A153-18F5-286C-B1D6-54CD4639CEA4}"/>
              </a:ext>
            </a:extLst>
          </p:cNvPr>
          <p:cNvSpPr txBox="1"/>
          <p:nvPr/>
        </p:nvSpPr>
        <p:spPr>
          <a:xfrm>
            <a:off x="473521" y="5330248"/>
            <a:ext cx="247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25 521 dif. transkripti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237FF9-72A0-FCE3-011C-4DF056D5154C}"/>
              </a:ext>
            </a:extLst>
          </p:cNvPr>
          <p:cNvSpPr txBox="1"/>
          <p:nvPr/>
        </p:nvSpPr>
        <p:spPr>
          <a:xfrm>
            <a:off x="5942172" y="5388783"/>
            <a:ext cx="247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25 521 dif. transkripti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C6514A-C681-ABD6-12E1-FD9944A9FE2A}"/>
              </a:ext>
            </a:extLst>
          </p:cNvPr>
          <p:cNvSpPr txBox="1"/>
          <p:nvPr/>
        </p:nvSpPr>
        <p:spPr>
          <a:xfrm>
            <a:off x="8853066" y="5332387"/>
            <a:ext cx="247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25 521 dif. transkripti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9714CC-2F57-1AD4-7A49-B2A7C6E8D6F4}"/>
              </a:ext>
            </a:extLst>
          </p:cNvPr>
          <p:cNvSpPr txBox="1"/>
          <p:nvPr/>
        </p:nvSpPr>
        <p:spPr>
          <a:xfrm>
            <a:off x="536065" y="5903883"/>
            <a:ext cx="192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16 577 dif. transkripti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D5B352-BB01-1136-A3FE-B8B36D3B432B}"/>
              </a:ext>
            </a:extLst>
          </p:cNvPr>
          <p:cNvSpPr txBox="1"/>
          <p:nvPr/>
        </p:nvSpPr>
        <p:spPr>
          <a:xfrm>
            <a:off x="372295" y="6433572"/>
            <a:ext cx="2140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16 071 dif. transkripti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AC279A-5895-3968-11EB-A6246B6C092F}"/>
              </a:ext>
            </a:extLst>
          </p:cNvPr>
          <p:cNvSpPr txBox="1"/>
          <p:nvPr/>
        </p:nvSpPr>
        <p:spPr>
          <a:xfrm>
            <a:off x="5906501" y="5915600"/>
            <a:ext cx="192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2 064 dif. transkripti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C11E95-C9F8-2D42-7635-3D7B022217DF}"/>
              </a:ext>
            </a:extLst>
          </p:cNvPr>
          <p:cNvSpPr txBox="1"/>
          <p:nvPr/>
        </p:nvSpPr>
        <p:spPr>
          <a:xfrm>
            <a:off x="8906497" y="5941128"/>
            <a:ext cx="192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203 dif. transkripti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2A5C0E-9582-F096-05B2-15E1583C81F2}"/>
              </a:ext>
            </a:extLst>
          </p:cNvPr>
          <p:cNvSpPr txBox="1"/>
          <p:nvPr/>
        </p:nvSpPr>
        <p:spPr>
          <a:xfrm>
            <a:off x="5891751" y="6452562"/>
            <a:ext cx="2190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2 030 dif. transkripti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9BD28F-60EE-7031-0971-D5CAE2DD254E}"/>
              </a:ext>
            </a:extLst>
          </p:cNvPr>
          <p:cNvSpPr txBox="1"/>
          <p:nvPr/>
        </p:nvSpPr>
        <p:spPr>
          <a:xfrm>
            <a:off x="8861227" y="6444029"/>
            <a:ext cx="179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224 dif. transkripti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10E35DA-0411-12FF-0DAB-D94AEC24F75C}"/>
              </a:ext>
            </a:extLst>
          </p:cNvPr>
          <p:cNvCxnSpPr/>
          <p:nvPr/>
        </p:nvCxnSpPr>
        <p:spPr>
          <a:xfrm>
            <a:off x="927100" y="4381694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9ABC1F0-1DA2-17E8-65E8-120EAAFE11F9}"/>
              </a:ext>
            </a:extLst>
          </p:cNvPr>
          <p:cNvCxnSpPr/>
          <p:nvPr/>
        </p:nvCxnSpPr>
        <p:spPr>
          <a:xfrm>
            <a:off x="914400" y="5013368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AF95C1A-FED3-F64E-5BCB-9E4473AA2AAE}"/>
              </a:ext>
            </a:extLst>
          </p:cNvPr>
          <p:cNvCxnSpPr/>
          <p:nvPr/>
        </p:nvCxnSpPr>
        <p:spPr>
          <a:xfrm>
            <a:off x="876300" y="5633351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9B10CF2-AC76-9FB6-4B23-A8FF62114BE3}"/>
              </a:ext>
            </a:extLst>
          </p:cNvPr>
          <p:cNvCxnSpPr/>
          <p:nvPr/>
        </p:nvCxnSpPr>
        <p:spPr>
          <a:xfrm>
            <a:off x="876300" y="6163041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916B3F9-E9F4-A1A0-5D83-966E64AA3EB6}"/>
              </a:ext>
            </a:extLst>
          </p:cNvPr>
          <p:cNvCxnSpPr/>
          <p:nvPr/>
        </p:nvCxnSpPr>
        <p:spPr>
          <a:xfrm>
            <a:off x="6464300" y="4472133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FD10954-98F3-422B-6840-604142A82A31}"/>
              </a:ext>
            </a:extLst>
          </p:cNvPr>
          <p:cNvCxnSpPr/>
          <p:nvPr/>
        </p:nvCxnSpPr>
        <p:spPr>
          <a:xfrm>
            <a:off x="6464300" y="5089418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0FA52BE-A8CD-B2AE-4AD3-FA906ED9522D}"/>
              </a:ext>
            </a:extLst>
          </p:cNvPr>
          <p:cNvCxnSpPr/>
          <p:nvPr/>
        </p:nvCxnSpPr>
        <p:spPr>
          <a:xfrm>
            <a:off x="6464300" y="5675013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A9F439A-8774-682A-B85B-1E5EE67BC31D}"/>
              </a:ext>
            </a:extLst>
          </p:cNvPr>
          <p:cNvCxnSpPr/>
          <p:nvPr/>
        </p:nvCxnSpPr>
        <p:spPr>
          <a:xfrm>
            <a:off x="6451600" y="6191586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47F57B4-BE1C-0C5C-8ECA-395F9A4819BC}"/>
              </a:ext>
            </a:extLst>
          </p:cNvPr>
          <p:cNvCxnSpPr/>
          <p:nvPr/>
        </p:nvCxnSpPr>
        <p:spPr>
          <a:xfrm>
            <a:off x="9271000" y="4516959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8608B89-8D93-A1DA-0E4E-C2B5C44F478A}"/>
              </a:ext>
            </a:extLst>
          </p:cNvPr>
          <p:cNvCxnSpPr/>
          <p:nvPr/>
        </p:nvCxnSpPr>
        <p:spPr>
          <a:xfrm>
            <a:off x="9271000" y="5073250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D3551CF-5F90-23E9-10E7-845616890325}"/>
              </a:ext>
            </a:extLst>
          </p:cNvPr>
          <p:cNvCxnSpPr/>
          <p:nvPr/>
        </p:nvCxnSpPr>
        <p:spPr>
          <a:xfrm>
            <a:off x="9283700" y="5633350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531F657-ED78-B959-37B4-BA02BE558E4D}"/>
              </a:ext>
            </a:extLst>
          </p:cNvPr>
          <p:cNvCxnSpPr/>
          <p:nvPr/>
        </p:nvCxnSpPr>
        <p:spPr>
          <a:xfrm>
            <a:off x="9277350" y="6191586"/>
            <a:ext cx="0" cy="270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4C70F09-00CB-B614-A9D2-0F96D87CE0BA}"/>
              </a:ext>
            </a:extLst>
          </p:cNvPr>
          <p:cNvSpPr txBox="1"/>
          <p:nvPr/>
        </p:nvSpPr>
        <p:spPr>
          <a:xfrm>
            <a:off x="1046948" y="4416843"/>
            <a:ext cx="710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threshold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AB4207-77A0-3CC2-5511-F7573723F39C}"/>
              </a:ext>
            </a:extLst>
          </p:cNvPr>
          <p:cNvSpPr txBox="1"/>
          <p:nvPr/>
        </p:nvSpPr>
        <p:spPr>
          <a:xfrm>
            <a:off x="6589885" y="4503739"/>
            <a:ext cx="710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threshold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4AED13E-DD5C-5405-25D8-375E7D2E76FC}"/>
              </a:ext>
            </a:extLst>
          </p:cNvPr>
          <p:cNvSpPr txBox="1"/>
          <p:nvPr/>
        </p:nvSpPr>
        <p:spPr>
          <a:xfrm>
            <a:off x="9305993" y="4547970"/>
            <a:ext cx="7106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threshold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F5A53B8-7967-E1C8-35E1-70486F0AB780}"/>
              </a:ext>
            </a:extLst>
          </p:cNvPr>
          <p:cNvSpPr txBox="1"/>
          <p:nvPr/>
        </p:nvSpPr>
        <p:spPr>
          <a:xfrm>
            <a:off x="1079545" y="5083945"/>
            <a:ext cx="869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Padj&lt;0,01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8982D4-E168-5282-D0EF-1FF2965A01AF}"/>
              </a:ext>
            </a:extLst>
          </p:cNvPr>
          <p:cNvSpPr txBox="1"/>
          <p:nvPr/>
        </p:nvSpPr>
        <p:spPr>
          <a:xfrm>
            <a:off x="6485784" y="5142150"/>
            <a:ext cx="869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Padj&lt;0,01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9EFD9F-0981-4E7E-1FCF-6FF95A46DEA7}"/>
              </a:ext>
            </a:extLst>
          </p:cNvPr>
          <p:cNvSpPr txBox="1"/>
          <p:nvPr/>
        </p:nvSpPr>
        <p:spPr>
          <a:xfrm>
            <a:off x="9355878" y="5129515"/>
            <a:ext cx="869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Padj&lt;0,01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66D245-98AA-D470-9C24-1EC6CFE12A3A}"/>
              </a:ext>
            </a:extLst>
          </p:cNvPr>
          <p:cNvSpPr txBox="1"/>
          <p:nvPr/>
        </p:nvSpPr>
        <p:spPr>
          <a:xfrm>
            <a:off x="1007377" y="5669379"/>
            <a:ext cx="1161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|log2FC| ≥ 0,5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D1E64BC-A94A-FA28-19A4-FEE21A4A86AE}"/>
              </a:ext>
            </a:extLst>
          </p:cNvPr>
          <p:cNvSpPr txBox="1"/>
          <p:nvPr/>
        </p:nvSpPr>
        <p:spPr>
          <a:xfrm>
            <a:off x="6566441" y="5657661"/>
            <a:ext cx="1161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|log2FC| ≥ 2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517FC9E-AC2B-0100-95C5-1D0BA9AE157E}"/>
              </a:ext>
            </a:extLst>
          </p:cNvPr>
          <p:cNvSpPr txBox="1"/>
          <p:nvPr/>
        </p:nvSpPr>
        <p:spPr>
          <a:xfrm>
            <a:off x="4168856" y="5670207"/>
            <a:ext cx="1161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|log2FC| ≥ 1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395C90-246D-F982-D203-85C384457B7E}"/>
              </a:ext>
            </a:extLst>
          </p:cNvPr>
          <p:cNvSpPr txBox="1"/>
          <p:nvPr/>
        </p:nvSpPr>
        <p:spPr>
          <a:xfrm>
            <a:off x="4196343" y="6271646"/>
            <a:ext cx="1161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shrinkage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F67922B-34A2-F152-4E54-E5925E60D24C}"/>
              </a:ext>
            </a:extLst>
          </p:cNvPr>
          <p:cNvSpPr txBox="1"/>
          <p:nvPr/>
        </p:nvSpPr>
        <p:spPr>
          <a:xfrm>
            <a:off x="6526833" y="6245224"/>
            <a:ext cx="1161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shrinkage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C38C37-71D3-A37A-36AD-7F1889D06DD9}"/>
              </a:ext>
            </a:extLst>
          </p:cNvPr>
          <p:cNvSpPr txBox="1"/>
          <p:nvPr/>
        </p:nvSpPr>
        <p:spPr>
          <a:xfrm>
            <a:off x="9355878" y="6257378"/>
            <a:ext cx="1161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000" dirty="0"/>
              <a:t>shrinkage</a:t>
            </a:r>
          </a:p>
        </p:txBody>
      </p:sp>
    </p:spTree>
    <p:extLst>
      <p:ext uri="{BB962C8B-B14F-4D97-AF65-F5344CB8AC3E}">
        <p14:creationId xmlns:p14="http://schemas.microsoft.com/office/powerpoint/2010/main" val="1940409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3AC8-C535-0E58-CDBA-7428B5AA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B0D6A-8FFD-D9E3-0191-A9091F25C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2" y="124782"/>
            <a:ext cx="9738476" cy="556255"/>
          </a:xfrm>
        </p:spPr>
        <p:txBody>
          <a:bodyPr>
            <a:normAutofit/>
          </a:bodyPr>
          <a:lstStyle/>
          <a:p>
            <a:r>
              <a:rPr lang="sl-SI" sz="2800" dirty="0"/>
              <a:t>CPTAC-3 (66 normal, 179 tumor) 60 660 transkriptov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9AF92-E1DF-E57D-D5E9-0CDC6C302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52" y="681037"/>
            <a:ext cx="4715675" cy="458013"/>
          </a:xfrm>
        </p:spPr>
        <p:txBody>
          <a:bodyPr>
            <a:normAutofit lnSpcReduction="10000"/>
          </a:bodyPr>
          <a:lstStyle/>
          <a:p>
            <a:r>
              <a:rPr lang="sl-SI" dirty="0"/>
              <a:t>Threshold</a:t>
            </a:r>
            <a:r>
              <a:rPr lang="sl-SI" u="sng" dirty="0"/>
              <a:t>&gt;</a:t>
            </a:r>
            <a:r>
              <a:rPr lang="sl-SI" dirty="0"/>
              <a:t>10    |log2FC| ≥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43EBFE-7C1D-32F9-8E0A-EC4394C01C5A}"/>
                  </a:ext>
                </a:extLst>
              </p:cNvPr>
              <p:cNvSpPr txBox="1"/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43EBFE-7C1D-32F9-8E0A-EC4394C01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blipFill>
                <a:blip r:embed="rId2"/>
                <a:stretch>
                  <a:fillRect l="-2222" b="-2500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19C394-CB27-457C-15E5-7C742A22B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492352"/>
              </p:ext>
            </p:extLst>
          </p:nvPr>
        </p:nvGraphicFramePr>
        <p:xfrm>
          <a:off x="5840837" y="779279"/>
          <a:ext cx="329618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092">
                  <a:extLst>
                    <a:ext uri="{9D8B030D-6E8A-4147-A177-3AD203B41FA5}">
                      <a16:colId xmlns:a16="http://schemas.microsoft.com/office/drawing/2014/main" val="3004857879"/>
                    </a:ext>
                  </a:extLst>
                </a:gridCol>
                <a:gridCol w="1648092">
                  <a:extLst>
                    <a:ext uri="{9D8B030D-6E8A-4147-A177-3AD203B41FA5}">
                      <a16:colId xmlns:a16="http://schemas.microsoft.com/office/drawing/2014/main" val="3034306518"/>
                    </a:ext>
                  </a:extLst>
                </a:gridCol>
              </a:tblGrid>
              <a:tr h="400908">
                <a:tc>
                  <a:txBody>
                    <a:bodyPr/>
                    <a:lstStyle/>
                    <a:p>
                      <a:r>
                        <a:rPr lang="sl-SI" sz="1200" dirty="0"/>
                        <a:t>Padj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l-SI" sz="1200" dirty="0"/>
                        <a:t>Število diferencialnih transkriptov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938357"/>
                  </a:ext>
                </a:extLst>
              </a:tr>
              <a:tr h="240545">
                <a:tc>
                  <a:txBody>
                    <a:bodyPr/>
                    <a:lstStyle/>
                    <a:p>
                      <a:r>
                        <a:rPr lang="sl-SI" sz="1200" dirty="0"/>
                        <a:t>&lt;0,05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l-SI" sz="1200" dirty="0"/>
                        <a:t>7 599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85852"/>
                  </a:ext>
                </a:extLst>
              </a:tr>
              <a:tr h="240545">
                <a:tc>
                  <a:txBody>
                    <a:bodyPr/>
                    <a:lstStyle/>
                    <a:p>
                      <a:r>
                        <a:rPr lang="sl-SI" sz="1200" dirty="0"/>
                        <a:t>&lt;0,01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l-SI" sz="1200" dirty="0"/>
                        <a:t>7 341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36724"/>
                  </a:ext>
                </a:extLst>
              </a:tr>
              <a:tr h="240545">
                <a:tc>
                  <a:txBody>
                    <a:bodyPr/>
                    <a:lstStyle/>
                    <a:p>
                      <a:r>
                        <a:rPr lang="sl-SI" sz="1200" dirty="0"/>
                        <a:t>&lt;0,001= 10^(-3)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l-SI" sz="1200" dirty="0"/>
                        <a:t>6 939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569468"/>
                  </a:ext>
                </a:extLst>
              </a:tr>
              <a:tr h="240545">
                <a:tc>
                  <a:txBody>
                    <a:bodyPr/>
                    <a:lstStyle/>
                    <a:p>
                      <a:r>
                        <a:rPr lang="sl-SI" sz="1200" dirty="0"/>
                        <a:t>&lt;0.00001=10^(-5)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l-SI" sz="1200" dirty="0"/>
                        <a:t>5 995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658570"/>
                  </a:ext>
                </a:extLst>
              </a:tr>
              <a:tr h="240545">
                <a:tc>
                  <a:txBody>
                    <a:bodyPr/>
                    <a:lstStyle/>
                    <a:p>
                      <a:r>
                        <a:rPr lang="sl-SI" sz="1200" dirty="0"/>
                        <a:t>&lt;0.00000001=10^(-8)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l-SI" sz="1200" dirty="0"/>
                        <a:t>4 790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256808"/>
                  </a:ext>
                </a:extLst>
              </a:tr>
              <a:tr h="240545">
                <a:tc>
                  <a:txBody>
                    <a:bodyPr/>
                    <a:lstStyle/>
                    <a:p>
                      <a:r>
                        <a:rPr lang="sl-SI" sz="1200" dirty="0"/>
                        <a:t>&lt;10^(-11)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l-SI" sz="1200" dirty="0"/>
                        <a:t>3 768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413583"/>
                  </a:ext>
                </a:extLst>
              </a:tr>
              <a:tr h="240545">
                <a:tc>
                  <a:txBody>
                    <a:bodyPr/>
                    <a:lstStyle/>
                    <a:p>
                      <a:r>
                        <a:rPr lang="sl-SI" sz="1200" dirty="0"/>
                        <a:t>&lt;10^(-25)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l-SI" sz="1200" dirty="0"/>
                        <a:t>1 101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83682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F03CC03-5857-24E1-238B-4C50E150C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31" y="3347214"/>
            <a:ext cx="3236150" cy="33830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A1881C-32EA-3545-3A5E-73F63BA72708}"/>
              </a:ext>
            </a:extLst>
          </p:cNvPr>
          <p:cNvSpPr txBox="1"/>
          <p:nvPr/>
        </p:nvSpPr>
        <p:spPr>
          <a:xfrm>
            <a:off x="214834" y="6453890"/>
            <a:ext cx="1289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padj&lt;0,01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547711-C894-8450-7EEA-04E30F31A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8040" y="3445456"/>
            <a:ext cx="3142173" cy="32847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375E0B-9B78-23B0-3B9A-92494868C02C}"/>
              </a:ext>
            </a:extLst>
          </p:cNvPr>
          <p:cNvSpPr txBox="1"/>
          <p:nvPr/>
        </p:nvSpPr>
        <p:spPr>
          <a:xfrm>
            <a:off x="3267144" y="6391998"/>
            <a:ext cx="243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padj&lt;10^(-5</a:t>
            </a:r>
            <a:r>
              <a:rPr lang="sl-SI" dirty="0"/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D19AE0-7103-D108-AB25-0D211B4DC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7021" y="3395714"/>
            <a:ext cx="3054752" cy="31933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A2AF9F7-8973-3448-311B-7190DB9BF713}"/>
              </a:ext>
            </a:extLst>
          </p:cNvPr>
          <p:cNvSpPr txBox="1"/>
          <p:nvPr/>
        </p:nvSpPr>
        <p:spPr>
          <a:xfrm>
            <a:off x="9478456" y="6423112"/>
            <a:ext cx="243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padj&lt;10^(-25</a:t>
            </a:r>
            <a:r>
              <a:rPr lang="sl-SI" dirty="0"/>
              <a:t>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BA8785E-0FAE-B198-BC1D-C641EBE07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233" y="3435837"/>
            <a:ext cx="3004488" cy="31408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DE09C42-A4E9-6D42-2966-F7B1CCC84570}"/>
              </a:ext>
            </a:extLst>
          </p:cNvPr>
          <p:cNvSpPr txBox="1"/>
          <p:nvPr/>
        </p:nvSpPr>
        <p:spPr>
          <a:xfrm>
            <a:off x="6575580" y="6438501"/>
            <a:ext cx="243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padj&lt;10^(-11</a:t>
            </a:r>
            <a:r>
              <a:rPr lang="sl-SI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524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0A822-1A35-A985-42EB-967C37F86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PAAD (4 normal, 179 tumor)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D3AB2-F8BF-86B9-08BE-30B50F82B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Ni zanesljiva analiza z DESeq2, ker je premalo normalnih vzorcev   -&gt;veliko false positives/false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3049889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D679-09D9-5872-F770-18FDF522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3200" dirty="0"/>
              <a:t>ALL (70 normal, 358 tumor), 60 659 transkriptov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CCE6E-C3D3-2381-D5BA-26F074514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Večja populacija vzorcev kot pa samo CPTAC-3, vendar je potrebno upoštevati „batch effect“-&gt; različna RNA izolacija, library preparation…Drugačni size factors</a:t>
            </a:r>
          </a:p>
          <a:p>
            <a:r>
              <a:rPr lang="sl-SI" dirty="0"/>
              <a:t>Ker to ni single-cell analiza potem imamo v vzorcih lahko veliko različnih vrst tkiv (mišična, živčna, hormonska, normalna, tumorska in vse vmes)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885316-8B7B-3E5C-C379-E17B470E7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622" y="2663824"/>
            <a:ext cx="3960608" cy="4426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04249F-BEBA-FA76-3DDD-8C34CDB38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07" y="4928049"/>
            <a:ext cx="3462793" cy="94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05A05C-944B-DC25-2B23-84A480D12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22" y="5084903"/>
            <a:ext cx="5048955" cy="1609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920820-4C2E-4D52-F2C4-A697E5D3F640}"/>
              </a:ext>
            </a:extLst>
          </p:cNvPr>
          <p:cNvSpPr txBox="1"/>
          <p:nvPr/>
        </p:nvSpPr>
        <p:spPr>
          <a:xfrm>
            <a:off x="7495684" y="1004929"/>
            <a:ext cx="445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ALL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3F4782-865D-E935-58EB-E48C42543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335" y="1415262"/>
            <a:ext cx="3690347" cy="33087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238034-E280-FF7E-F342-3D9AEF66D4AC}"/>
              </a:ext>
            </a:extLst>
          </p:cNvPr>
          <p:cNvSpPr txBox="1"/>
          <p:nvPr/>
        </p:nvSpPr>
        <p:spPr>
          <a:xfrm>
            <a:off x="153749" y="543264"/>
            <a:ext cx="4922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Padj&lt;0,01   threshold</a:t>
            </a:r>
            <a:r>
              <a:rPr lang="sl-SI" u="sng" dirty="0"/>
              <a:t>&gt;</a:t>
            </a:r>
            <a:r>
              <a:rPr lang="sl-SI" dirty="0"/>
              <a:t>10 |log2FC| </a:t>
            </a:r>
            <a:r>
              <a:rPr lang="sl-SI" u="sng" dirty="0"/>
              <a:t>&gt;</a:t>
            </a:r>
            <a:r>
              <a:rPr lang="sl-SI" dirty="0"/>
              <a:t>1 </a:t>
            </a:r>
          </a:p>
          <a:p>
            <a:endParaRPr lang="sl-SI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144666-666A-0028-0F22-DE0A2CF06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62" y="1558927"/>
            <a:ext cx="4106027" cy="3021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5AC547-7036-83AA-DB22-B44F1ED7C0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23" y="5084903"/>
            <a:ext cx="5193903" cy="15054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4A5E94-92ED-52C8-7D6F-EFCF5297A387}"/>
              </a:ext>
            </a:extLst>
          </p:cNvPr>
          <p:cNvSpPr txBox="1"/>
          <p:nvPr/>
        </p:nvSpPr>
        <p:spPr>
          <a:xfrm>
            <a:off x="626023" y="1189595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/>
              <a:t>CPTAC-3</a:t>
            </a:r>
            <a:endParaRPr lang="sl-SI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683142-C4A2-ABB7-252D-82E5931BBE95}"/>
              </a:ext>
            </a:extLst>
          </p:cNvPr>
          <p:cNvSpPr txBox="1"/>
          <p:nvPr/>
        </p:nvSpPr>
        <p:spPr>
          <a:xfrm>
            <a:off x="153749" y="173932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/>
              <a:t>ALL (70 normal, 358 tumor), 60 659 transkriptov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94426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2D867D-414B-7794-437D-7788E062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322" y="1246968"/>
            <a:ext cx="5732331" cy="55342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B347C1-B61E-F106-D4A3-71BCBF0F0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72" y="1342429"/>
            <a:ext cx="5276150" cy="55155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CD947D-EEBB-97B8-49A4-2C6B06AD87DE}"/>
              </a:ext>
            </a:extLst>
          </p:cNvPr>
          <p:cNvSpPr txBox="1"/>
          <p:nvPr/>
        </p:nvSpPr>
        <p:spPr>
          <a:xfrm>
            <a:off x="153749" y="76827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/>
              <a:t>ALL (70 normal, 358 tumor), 60 659 transkriptov </a:t>
            </a:r>
            <a:endParaRPr lang="sl-SI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A0B34-A3B7-6A09-32B7-6C1D72ADDE73}"/>
              </a:ext>
            </a:extLst>
          </p:cNvPr>
          <p:cNvSpPr txBox="1"/>
          <p:nvPr/>
        </p:nvSpPr>
        <p:spPr>
          <a:xfrm>
            <a:off x="153749" y="446159"/>
            <a:ext cx="4922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Padj&lt;0,01   threshold</a:t>
            </a:r>
            <a:r>
              <a:rPr lang="sl-SI" u="sng" dirty="0"/>
              <a:t>&gt;</a:t>
            </a:r>
            <a:r>
              <a:rPr lang="sl-SI" dirty="0"/>
              <a:t>10 |log2FC| </a:t>
            </a:r>
            <a:r>
              <a:rPr lang="sl-SI" u="sng" dirty="0"/>
              <a:t>&gt;</a:t>
            </a:r>
            <a:r>
              <a:rPr lang="sl-SI" dirty="0"/>
              <a:t>1 </a:t>
            </a:r>
          </a:p>
          <a:p>
            <a:endParaRPr lang="sl-SI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173D1-79F7-E7D2-B673-F921D0E11E21}"/>
              </a:ext>
            </a:extLst>
          </p:cNvPr>
          <p:cNvSpPr txBox="1"/>
          <p:nvPr/>
        </p:nvSpPr>
        <p:spPr>
          <a:xfrm>
            <a:off x="582627" y="1461822"/>
            <a:ext cx="3026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CPTAC-3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E98E21-57F6-A3A8-5842-20A1DA7C6B55}"/>
              </a:ext>
            </a:extLst>
          </p:cNvPr>
          <p:cNvSpPr txBox="1"/>
          <p:nvPr/>
        </p:nvSpPr>
        <p:spPr>
          <a:xfrm>
            <a:off x="6975334" y="932989"/>
            <a:ext cx="320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1282881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33DD-C8E8-B922-8218-96C7BB813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712ECF-149D-C0ED-0F9F-1489B597D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5896" y="2210432"/>
            <a:ext cx="5183574" cy="4647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21D8F6-BAB7-E618-8C01-AEE6A49ED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07" y="1710018"/>
            <a:ext cx="4922894" cy="51479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6D3309-8ED6-4248-5D2F-69D295D61CEC}"/>
              </a:ext>
            </a:extLst>
          </p:cNvPr>
          <p:cNvSpPr txBox="1"/>
          <p:nvPr/>
        </p:nvSpPr>
        <p:spPr>
          <a:xfrm>
            <a:off x="153749" y="76827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/>
              <a:t>ALL (70 normal, 358 tumor), 60 659 transkriptov </a:t>
            </a:r>
            <a:endParaRPr lang="sl-SI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B2FEA-8E97-7CA0-1017-98942869F45A}"/>
              </a:ext>
            </a:extLst>
          </p:cNvPr>
          <p:cNvSpPr txBox="1"/>
          <p:nvPr/>
        </p:nvSpPr>
        <p:spPr>
          <a:xfrm>
            <a:off x="153749" y="446159"/>
            <a:ext cx="4922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Padj&lt;0,01   threshold</a:t>
            </a:r>
            <a:r>
              <a:rPr lang="sl-SI" u="sng" dirty="0"/>
              <a:t>&gt;</a:t>
            </a:r>
            <a:r>
              <a:rPr lang="sl-SI" dirty="0"/>
              <a:t>10 |log2FC| </a:t>
            </a:r>
            <a:r>
              <a:rPr lang="sl-SI" u="sng" dirty="0"/>
              <a:t>&gt;</a:t>
            </a:r>
            <a:r>
              <a:rPr lang="sl-SI" dirty="0"/>
              <a:t>1 </a:t>
            </a:r>
          </a:p>
          <a:p>
            <a:endParaRPr lang="sl-SI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EADB86-D083-C798-AAE4-1E0B63FA312D}"/>
              </a:ext>
            </a:extLst>
          </p:cNvPr>
          <p:cNvSpPr txBox="1"/>
          <p:nvPr/>
        </p:nvSpPr>
        <p:spPr>
          <a:xfrm>
            <a:off x="704007" y="1395022"/>
            <a:ext cx="3026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CPTAC-3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1A973-B536-06FF-0549-1789857EA64E}"/>
              </a:ext>
            </a:extLst>
          </p:cNvPr>
          <p:cNvSpPr txBox="1"/>
          <p:nvPr/>
        </p:nvSpPr>
        <p:spPr>
          <a:xfrm>
            <a:off x="7274739" y="1467063"/>
            <a:ext cx="320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285970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AAD2-50AF-9696-7023-8CCF717C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648A-B5D0-A118-50F0-A57C52A02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3049"/>
          </a:xfrm>
        </p:spPr>
        <p:txBody>
          <a:bodyPr>
            <a:normAutofit lnSpcReduction="10000"/>
          </a:bodyPr>
          <a:lstStyle/>
          <a:p>
            <a:r>
              <a:rPr lang="sl-SI" dirty="0"/>
              <a:t>Najboljši kandidati za markerske (diferencialne) gene so tisti z najnižjim padj in najvišjo vrednostjo log2FC.</a:t>
            </a:r>
          </a:p>
          <a:p>
            <a:r>
              <a:rPr lang="sl-SI" dirty="0"/>
              <a:t>Pri pogojih padj&lt;0,01, threshold</a:t>
            </a:r>
            <a:r>
              <a:rPr lang="sl-SI" u="sng" dirty="0"/>
              <a:t>&gt;</a:t>
            </a:r>
            <a:r>
              <a:rPr lang="sl-SI" dirty="0"/>
              <a:t>10 in |log2FC| </a:t>
            </a:r>
            <a:r>
              <a:rPr lang="sl-SI" u="sng" dirty="0"/>
              <a:t>&gt;</a:t>
            </a:r>
            <a:r>
              <a:rPr lang="sl-SI" dirty="0"/>
              <a:t>1 imamo </a:t>
            </a:r>
            <a:r>
              <a:rPr lang="sl-SI" b="1" dirty="0"/>
              <a:t>12 090 </a:t>
            </a:r>
            <a:r>
              <a:rPr lang="sl-SI" dirty="0"/>
              <a:t>diferencialnih transkriptov v 108 podsistemih -&gt; groupiranje podsistemov v sisteme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F6942-E4B2-6D69-D8B0-AE6B99DF1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51" y="3792419"/>
            <a:ext cx="10169718" cy="289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62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3267F89-42DF-D939-D9C8-24E6494E30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5048913"/>
              </p:ext>
            </p:extLst>
          </p:nvPr>
        </p:nvGraphicFramePr>
        <p:xfrm>
          <a:off x="525727" y="440814"/>
          <a:ext cx="10804882" cy="5976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1337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3267F89-42DF-D939-D9C8-24E6494E30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4201742"/>
              </p:ext>
            </p:extLst>
          </p:nvPr>
        </p:nvGraphicFramePr>
        <p:xfrm>
          <a:off x="453226" y="406806"/>
          <a:ext cx="11079820" cy="6363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319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AE03DC-F216-AB4A-9BEF-2257A95D1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58" y="257183"/>
            <a:ext cx="5094052" cy="5949444"/>
          </a:xfrm>
          <a:prstGeom prst="rect">
            <a:avLst/>
          </a:prstGeom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A0E06A1-A039-67E5-2702-E79BA21BA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428913"/>
              </p:ext>
            </p:extLst>
          </p:nvPr>
        </p:nvGraphicFramePr>
        <p:xfrm>
          <a:off x="5575309" y="651373"/>
          <a:ext cx="6331795" cy="5555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365547" imgH="2952572" progId="Excel.Sheet.12">
                  <p:embed/>
                </p:oleObj>
              </mc:Choice>
              <mc:Fallback>
                <p:oleObj name="Worksheet" r:id="rId3" imgW="3365547" imgH="295257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75309" y="651373"/>
                        <a:ext cx="6331795" cy="5555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1986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737</Words>
  <Application>Microsoft Office PowerPoint</Application>
  <PresentationFormat>Widescreen</PresentationFormat>
  <Paragraphs>129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Microsoft Excel Worksheet</vt:lpstr>
      <vt:lpstr>Rezultati DESeq2</vt:lpstr>
      <vt:lpstr>Parametri za spreminjanje rezultatov analize</vt:lpstr>
      <vt:lpstr>CPTAC-3 (66 normal, 179 tumor), 60 660 transkriptov</vt:lpstr>
      <vt:lpstr>CPTAC-3 (66 normal, 179 tumor), 60 660 transkriptov</vt:lpstr>
      <vt:lpstr>CPTAC-3 (66 normal, 179 tumor), 60 660 transkriptov</vt:lpstr>
      <vt:lpstr>CPTAC-3 (66 normal, 179 tumor), 60 660 transkriptov</vt:lpstr>
      <vt:lpstr>CPTAC-3 (66 normal, 179 tumor), 60 660 transkriptov</vt:lpstr>
      <vt:lpstr>CPTAC-3 (66 normal, 179 tumor) 60 660 transkriptov</vt:lpstr>
      <vt:lpstr>PAAD (4 normal, 179 tumor)</vt:lpstr>
      <vt:lpstr>ALL (70 normal, 358 tumor), 60 659 transkriptov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Veler, Jakob Urh</dc:creator>
  <cp:lastModifiedBy>Veler, Jakob Urh</cp:lastModifiedBy>
  <cp:revision>13</cp:revision>
  <dcterms:created xsi:type="dcterms:W3CDTF">2026-03-12T07:39:01Z</dcterms:created>
  <dcterms:modified xsi:type="dcterms:W3CDTF">2026-03-16T10:55:05Z</dcterms:modified>
</cp:coreProperties>
</file>